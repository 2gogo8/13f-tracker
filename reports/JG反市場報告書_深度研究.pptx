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0" y="457200"/>
            <a:ext cx="5943600" cy="32004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D4AF37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PingFang TC"/>
              </a:defRPr>
            </a:pPr>
            <a:r>
              <a:t>深度研究系列 — 五檔反市場精選個股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91840"/>
            <a:ext cx="210312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25880" y="3749039"/>
            <a:ext cx="2103120" cy="118872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3794760"/>
            <a:ext cx="2011680" cy="109728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F37"/>
                </a:solidFill>
                <a:latin typeface="PingFang TC"/>
              </a:defRPr>
            </a:pPr>
            <a:r>
              <a:t>GOOGL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133087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  <a:latin typeface="PingFang TC"/>
              </a:defRPr>
            </a:pPr>
            <a: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5262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0F0"/>
                </a:solidFill>
                <a:latin typeface="PingFang TC"/>
              </a:defRPr>
            </a:pPr>
            <a:r>
              <a:t>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754880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PingFang TC"/>
              </a:defRPr>
            </a:pPr>
            <a:r>
              <a:t>型態評級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3749039"/>
            <a:ext cx="2103120" cy="118872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3794760"/>
            <a:ext cx="2011680" cy="109728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3840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F37"/>
                </a:solidFill>
                <a:latin typeface="PingFang TC"/>
              </a:defRPr>
            </a:pPr>
            <a:r>
              <a:t>PLTR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4133087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ADE80"/>
                </a:solidFill>
                <a:latin typeface="PingFang TC"/>
              </a:defRPr>
            </a:pPr>
            <a: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5262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0F0"/>
                </a:solidFill>
                <a:latin typeface="PingFang TC"/>
              </a:defRPr>
            </a:pPr>
            <a:r>
              <a:t>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754880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PingFang TC"/>
              </a:defRPr>
            </a:pPr>
            <a:r>
              <a:t>型態評級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9240" y="3749039"/>
            <a:ext cx="2103120" cy="118872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94960" y="3794760"/>
            <a:ext cx="2011680" cy="109728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3840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F37"/>
                </a:solidFill>
                <a:latin typeface="PingFang TC"/>
              </a:defRPr>
            </a:pPr>
            <a:r>
              <a:t>RKLB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4133087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99999"/>
                </a:solidFill>
                <a:latin typeface="PingFang TC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45262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0F0"/>
                </a:solidFill>
                <a:latin typeface="PingFang TC"/>
              </a:defRPr>
            </a:pPr>
            <a:r>
              <a:t>48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754880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PingFang TC"/>
              </a:defRPr>
            </a:pPr>
            <a:r>
              <a:t>型態評級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749039"/>
            <a:ext cx="2103120" cy="118872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06640" y="3794760"/>
            <a:ext cx="2011680" cy="109728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3840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F37"/>
                </a:solidFill>
                <a:latin typeface="PingFang TC"/>
              </a:defRPr>
            </a:pPr>
            <a:r>
              <a:t>AMD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4133087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  <a:latin typeface="PingFang TC"/>
              </a:defRPr>
            </a:pPr>
            <a: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45262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0F0"/>
                </a:solidFill>
                <a:latin typeface="PingFang TC"/>
              </a:defRPr>
            </a:pPr>
            <a:r>
              <a:t>58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4754880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PingFang TC"/>
              </a:defRPr>
            </a:pPr>
            <a:r>
              <a:t>型態評級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72600" y="3749039"/>
            <a:ext cx="2103120" cy="118872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418320" y="3794760"/>
            <a:ext cx="2011680" cy="109728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0" y="3840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F37"/>
                </a:solidFill>
                <a:latin typeface="PingFang TC"/>
              </a:defRPr>
            </a:pPr>
            <a:r>
              <a:t>ARES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4133087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  <a:latin typeface="PingFang TC"/>
              </a:defRPr>
            </a:pPr>
            <a:r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45262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0F0"/>
                </a:solidFill>
                <a:latin typeface="PingFang TC"/>
              </a:defRPr>
            </a:pPr>
            <a:r>
              <a:t>67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4754880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PingFang TC"/>
              </a:defRPr>
            </a:pPr>
            <a:r>
              <a:t>型態評級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PingFang TC"/>
              </a:defRPr>
            </a:pPr>
            <a:r>
              <a:t>2026年2月19日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486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PingFang TC"/>
              </a:defRPr>
            </a:pPr>
            <a:r>
              <a:t>僅供參考，不構成投資建議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F37"/>
                </a:solidFill>
                <a:latin typeface="PingFang TC"/>
              </a:defRPr>
            </a:pPr>
            <a:r>
              <a:t>目錄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4AF37"/>
                </a:solidFill>
                <a:latin typeface="PingFang TC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45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0"/>
                </a:solidFill>
                <a:latin typeface="PingFang TC"/>
              </a:defRPr>
            </a:pPr>
            <a:r>
              <a:t>GOOGL — Alphabet Inc.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965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PingFang TC"/>
              </a:defRPr>
            </a:pPr>
            <a:r>
              <a:t>成長瓶頸分析 + 2026突破點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PingFang TC"/>
              </a:defRPr>
            </a:pPr>
            <a:r>
              <a:t>P.3-11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4AF37"/>
                </a:solidFill>
                <a:latin typeface="PingFang TC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423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0"/>
                </a:solidFill>
                <a:latin typeface="PingFang TC"/>
              </a:defRPr>
            </a:pPr>
            <a:r>
              <a:t>PLTR — Palantir Technologies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43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PingFang TC"/>
              </a:defRPr>
            </a:pPr>
            <a:r>
              <a:t>成長持續性 + 利潤率 + 2027方向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514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PingFang TC"/>
              </a:defRPr>
            </a:pPr>
            <a:r>
              <a:t>P.12-20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4AF37"/>
                </a:solidFill>
                <a:latin typeface="PingFang TC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200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0"/>
                </a:solidFill>
                <a:latin typeface="PingFang TC"/>
              </a:defRPr>
            </a:pPr>
            <a:r>
              <a:t>RKLB — Rocket Lab USA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520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PingFang TC"/>
              </a:defRPr>
            </a:pPr>
            <a:r>
              <a:t>未來方向 + 政策面 + 成長率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3291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PingFang TC"/>
              </a:defRPr>
            </a:pPr>
            <a:r>
              <a:t>P.21-29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7763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4AF37"/>
                </a:solidFill>
                <a:latin typeface="PingFang TC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9776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0"/>
                </a:solidFill>
                <a:latin typeface="PingFang TC"/>
              </a:defRPr>
            </a:pPr>
            <a:r>
              <a:t>AMD — Advanced Micro Devices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29767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PingFang TC"/>
              </a:defRPr>
            </a:pPr>
            <a:r>
              <a:t>低利潤率突破路徑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40690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PingFang TC"/>
              </a:defRPr>
            </a:pPr>
            <a:r>
              <a:t>P.30-38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4AF37"/>
                </a:solidFill>
                <a:latin typeface="PingFang TC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754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0"/>
                </a:solidFill>
                <a:latin typeface="PingFang TC"/>
              </a:defRPr>
            </a:pPr>
            <a:r>
              <a:t>ARES — Ares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074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PingFang TC"/>
              </a:defRPr>
            </a:pPr>
            <a:r>
              <a:t>政策影響 + 寬鬆/緊縮情境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PingFang TC"/>
              </a:defRPr>
            </a:pPr>
            <a:r>
              <a:t>P.39-47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532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4AF37"/>
                </a:solidFill>
                <a:latin typeface="PingFang TC"/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532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0"/>
                </a:solidFill>
                <a:latin typeface="PingFang TC"/>
              </a:defRPr>
            </a:pPr>
            <a:r>
              <a:t>總結與比較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85215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PingFang TC"/>
              </a:defRPr>
            </a:pPr>
            <a:r>
              <a:t>五檔精選綜合評估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56235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PingFang TC"/>
              </a:defRPr>
            </a:pPr>
            <a:r>
              <a:t>P.48-49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1371600"/>
            <a:ext cx="101600" cy="1016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1371600"/>
            <a:ext cx="101600" cy="1016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D4AF37"/>
                </a:solidFill>
                <a:latin typeface="PingFang TC"/>
              </a:defRPr>
            </a:pPr>
            <a:r>
              <a:t>GOOGL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99999"/>
                </a:solidFill>
                <a:latin typeface="PingFang TC"/>
              </a:defRPr>
            </a:pPr>
            <a:r>
              <a:t>Alphabet Inc.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51760"/>
            <a:ext cx="18288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0F0F0"/>
                </a:solidFill>
                <a:latin typeface="PingFang TC"/>
              </a:defRPr>
            </a:pPr>
            <a:r>
              <a:t>$303.33 · 市值$3.67T  ·  σ-2.4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2286000" cy="9144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F37"/>
                </a:solidFill>
                <a:latin typeface="PingFang TC"/>
              </a:defRPr>
            </a:pPr>
            <a:r>
              <a:t>$403B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06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PingFang TC"/>
              </a:defRPr>
            </a:pPr>
            <a:r>
              <a:t>2025 營收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39" y="3657600"/>
            <a:ext cx="2286000" cy="9144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8999" y="3703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ADE80"/>
                </a:solidFill>
                <a:latin typeface="PingFang TC"/>
              </a:defRPr>
            </a:pPr>
            <a:r>
              <a:t>+15.1%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8999" y="4206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PingFang TC"/>
              </a:defRPr>
            </a:pPr>
            <a:r>
              <a:t>YoY 成長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59" y="3657600"/>
            <a:ext cx="2286000" cy="9144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3703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0F0F0"/>
                </a:solidFill>
                <a:latin typeface="PingFang TC"/>
              </a:defRPr>
            </a:pPr>
            <a:r>
              <a:t>32.8%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4206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PingFang TC"/>
              </a:defRPr>
            </a:pPr>
            <a:r>
              <a:t>淨利率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3657600"/>
            <a:ext cx="2286000" cy="9144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3703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  <a:latin typeface="PingFang TC"/>
              </a:defRPr>
            </a:pPr>
            <a:r>
              <a:t>$91B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4206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PingFang TC"/>
              </a:defRPr>
            </a:pPr>
            <a:r>
              <a:t>2025 CapEx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GOOGL 公司概況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PingFang TC"/>
              </a:defRPr>
            </a:pPr>
            <a:r>
              <a:t>▸ 全球最大搜尋引擎 + 數位廣告平台，市佔率 90%+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PingFang TC"/>
              </a:defRPr>
            </a:pPr>
            <a:r>
              <a:t>▸ CEO: Sundar Pichai · 員工: 190,820人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PingFang TC"/>
              </a:defRPr>
            </a:pPr>
            <a:r>
              <a:t>▸ 三大業務板塊: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3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Google Services (90% 營收) — 搜尋廣告、YouTube、Google Play、Pixel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Google Cloud (10% 營收) — AI解決方案、Workspace、雲端基礎設施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Other Bets (&lt;1%) — Waymo 自駕、Verily 健康科技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5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PingFang TC"/>
              </a:defRPr>
            </a:pPr>
            <a:r>
              <a:t>▸ 2025年亮點: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營收首次突破 $4,000億，Q4 單季 $1,139億 創歷史新高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淨利 $1,322億 (+32% YoY)，淨利率提升至 32.8%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Q4 YoY 成長加速至 18%（Q1 僅 12%），趨勢向上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GOOGL 營收結構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99999"/>
                </a:solidFill>
                <a:latin typeface="PingFang TC"/>
              </a:defRPr>
            </a:pPr>
            <a:r>
              <a:t>Search 廣告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280160"/>
            <a:ext cx="3803904" cy="36576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29984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~$210B (52%)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99999"/>
                </a:solidFill>
                <a:latin typeface="PingFang TC"/>
              </a:defRPr>
            </a:pPr>
            <a:r>
              <a:t>YouTube 廣告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874519"/>
            <a:ext cx="694944" cy="365760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1024" y="19202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~$38B (9.5%)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99999"/>
                </a:solidFill>
                <a:latin typeface="PingFang TC"/>
              </a:defRPr>
            </a:pPr>
            <a:r>
              <a:t>Google Cloud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468880"/>
            <a:ext cx="731520" cy="36576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514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~$40B (10%)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99999"/>
                </a:solidFill>
                <a:latin typeface="PingFang TC"/>
              </a:defRPr>
            </a:pPr>
            <a:r>
              <a:t>Network/訂閱/其他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3063240"/>
            <a:ext cx="512064" cy="36576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38144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~$28B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99999"/>
                </a:solidFill>
                <a:latin typeface="PingFang TC"/>
              </a:defRPr>
            </a:pPr>
            <a:r>
              <a:t>Other Bets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3657600"/>
            <a:ext cx="457200" cy="36576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5808" y="3703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~$2B (&lt;1%)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GOOGL 資本支出應用場景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4AF37"/>
                </a:solidFill>
                <a:latin typeface="PingFang TC"/>
              </a:defRPr>
            </a:pPr>
            <a:r>
              <a:t> 2025年 CapEx $910億 = 等於蓋 30 座台積電南科廠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錢花在哪裡？（白話文解釋）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A5FA"/>
                </a:solidFill>
                <a:latin typeface="PingFang TC"/>
              </a:defRPr>
            </a:pPr>
            <a:r>
              <a:t> AI數據中心 (60-70%): 訓練Gemini大模型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→ 想像成蓋一座城市大小的超級電腦機房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→ 裡面塞滿 Google TPU 晶片 + NVIDIA GPU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A5FA"/>
                </a:solidFill>
                <a:latin typeface="PingFang TC"/>
              </a:defRPr>
            </a:pPr>
            <a:r>
              <a:t> 海底光纜 (5-10%): 全球網路骨幹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→ Google 自己鋪設橫跨太平洋、大西洋的網路線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→ 確保 YouTube、Gmail 全球秒開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731520" y="47091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A5FA"/>
                </a:solidFill>
                <a:latin typeface="PingFang TC"/>
              </a:defRPr>
            </a:pPr>
            <a:r>
              <a:t> 自駕車車隊 (Waymo): 造火箭就是燒錢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19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→ 類似 Tesla 早期投資，但 Google 更激進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49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→ 舊金山街頭跑的無人計程車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6927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731520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1E3A"/>
                </a:solidFill>
                <a:latin typeface="PingFang TC"/>
              </a:defRPr>
            </a:pPr>
            <a:r>
              <a:t>CapEx 成長 +74% 遠超營收成長 +15%，市場質疑 ROI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093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1E3A"/>
                </a:solidFill>
                <a:latin typeface="PingFang TC"/>
              </a:defRPr>
            </a:pPr>
            <a:r>
              <a:t>2026年 CapEx 預估: $750-850億（微降但仍極高）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62939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731520" y="6949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4AF37"/>
                </a:solidFill>
                <a:latin typeface="PingFang TC"/>
              </a:defRPr>
            </a:pPr>
            <a:r>
              <a:t> 核心問題: AI 軍備競賽的資本效率是否合理？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726947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Google 的回答: "AI 投資不足的風險遠大於過度投資"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GOOGL 2026 重大動向與消息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PingFang TC"/>
              </a:defRPr>
            </a:pPr>
            <a:r>
              <a:t> 2月: Q4 財報超預期，營收 $1,139億 (+18% YoY)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PingFang TC"/>
              </a:defRPr>
            </a:pPr>
            <a:r>
              <a:t> Gemini 2.0 持續迭代，在企業市場與 GPT-4o 競爭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PingFang TC"/>
              </a:defRPr>
            </a:pPr>
            <a:r>
              <a:t> Google Cloud 2025年營收 ~$400億，營業利潤率改善至 8-10%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1E3A"/>
                </a:solidFill>
                <a:latin typeface="PingFang TC"/>
              </a:defRPr>
            </a:pPr>
            <a:r>
              <a:t> DOJ 反壟斷案: 2024年判決搜尋壟斷成立，2026年可能執行補救措施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1E3A"/>
                </a:solidFill>
                <a:latin typeface="PingFang TC"/>
              </a:defRPr>
            </a:pPr>
            <a:r>
              <a:t> AI Overviews 對廣告收入的衝擊: 每次 AI 搜尋廣告收入下降 15-20%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1E3A"/>
                </a:solidFill>
                <a:latin typeface="PingFang TC"/>
              </a:defRPr>
            </a:pPr>
            <a:r>
              <a:t> 第三方 Cookie 逐步淘汰，精準廣告能力下降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PingFang TC"/>
              </a:defRPr>
            </a:pPr>
            <a:r>
              <a:t> Waymo 自駕: 2026年擴展至 LA、Austin 等新城市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PingFang TC"/>
              </a:defRPr>
            </a:pPr>
            <a:r>
              <a:t> YouTube Shorts 日均觀看超 700億分鐘，廣告營利化加速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PingFang TC"/>
              </a:defRPr>
            </a:pPr>
            <a:r>
              <a:t> Pixel 10 + Tensor G5 自研晶片，硬體生態持續建設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GOOGL 2026 催化劑時間表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515600" cy="43891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PingFang TC"/>
              </a:defRPr>
            </a:pPr>
            <a:r>
              <a:t>3月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325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Google Cloud Next 大會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325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PingFang TC"/>
              </a:defRPr>
            </a:pPr>
            <a:r>
              <a:t>AI 新產品發布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515600" cy="43891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PingFang TC"/>
              </a:defRPr>
            </a:pPr>
            <a:r>
              <a:t>4月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828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Q1 2026 財報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PingFang TC"/>
              </a:defRPr>
            </a:pPr>
            <a:r>
              <a:t>AI 營收貢獻驗證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86000"/>
            <a:ext cx="10515600" cy="43891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331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PingFang TC"/>
              </a:defRPr>
            </a:pPr>
            <a:r>
              <a:t>5月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331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Google I/O — Gemini 3.0 發布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331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ADE80"/>
                </a:solidFill>
                <a:latin typeface="PingFang TC"/>
              </a:defRPr>
            </a:pPr>
            <a:r>
              <a:t>年度最大催化劑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788920"/>
            <a:ext cx="10515600" cy="43891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8346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PingFang TC"/>
              </a:defRPr>
            </a:pPr>
            <a:r>
              <a:t>Q2-Q3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8346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AI Overviews 廣告上線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8346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PingFang TC"/>
              </a:defRPr>
            </a:pPr>
            <a:r>
              <a:t>搜尋營收突破口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91840"/>
            <a:ext cx="10515600" cy="43891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337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PingFang TC"/>
              </a:defRPr>
            </a:pPr>
            <a:r>
              <a:t>7月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337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Q2 2026 財報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337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PingFang TC"/>
              </a:defRPr>
            </a:pPr>
            <a:r>
              <a:t>Cloud 利潤率驗證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794760"/>
            <a:ext cx="10515600" cy="43891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840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PingFang TC"/>
              </a:defRPr>
            </a:pPr>
            <a:r>
              <a:t>下半年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DOJ 反壟斷補救措施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41E3A"/>
                </a:solidFill>
                <a:latin typeface="PingFang TC"/>
              </a:defRPr>
            </a:pPr>
            <a:r>
              <a:t>潛在風險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297680"/>
            <a:ext cx="10515600" cy="43891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343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PingFang TC"/>
              </a:defRPr>
            </a:pPr>
            <a:r>
              <a:t>Q4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4343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Waymo IPO/融資消息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343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PingFang TC"/>
              </a:defRPr>
            </a:pPr>
            <a:r>
              <a:t>釋放隱藏價值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F37"/>
                </a:solidFill>
                <a:latin typeface="PingFang TC"/>
              </a:defRPr>
            </a:pPr>
            <a:r>
              <a:t>GOOGL 成長不足的真相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PingFang TC"/>
              </a:defRPr>
            </a:pPr>
            <a:r>
              <a:t>問題一: 廣告業務增長見頂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搜尋市佔率已達 90%+，缺乏增量市場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AI Overviews 直接回答問題，減少用戶點擊廣告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測試數據: AI 搜尋頁面廣告收入下降 15-20%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TikTok、Amazon 搜尋、ChatGPT 持續分食市場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31520" y="31089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PingFang TC"/>
              </a:defRPr>
            </a:pPr>
            <a:r>
              <a:t>問題二: Google Cloud 追趕困難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AWS +17%、Azure +32%、Google Cloud +21%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企業客戶黏性不如 AWS/Azure 的 Office 365 生態系綁定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Cloud 營業利潤率僅 8-10%（AWS 30%+）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731520" y="47091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PingFang TC"/>
              </a:defRPr>
            </a:pPr>
            <a:r>
              <a:t>問題三: CapEx 暴增但 ROI 存疑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19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2023 CapEx $32B → 2025 $91B (+184%)，營收僅 +15%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49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CapEx/營收從 10.5% 暴增至 22.7%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6927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F37"/>
                </a:solidFill>
                <a:latin typeface="PingFang TC"/>
              </a:defRPr>
            </a:pPr>
            <a:r>
              <a:t> 核心矛盾: 搜尋是印鈔機，但 AI 正在瓦解它的商業模式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F37"/>
                </a:solidFill>
                <a:latin typeface="PingFang TC"/>
              </a:defRPr>
            </a:pPr>
            <a:r>
              <a:t>GOOGL 2026 突破點在哪？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PingFang TC"/>
              </a:defRPr>
            </a:pPr>
            <a:r>
              <a:t>突破點 1: AI Overviews 廣告化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F37"/>
                </a:solidFill>
                <a:latin typeface="PingFang TC"/>
              </a:defRPr>
            </a:pPr>
            <a:r>
              <a:t> 在 AI 搜尋摘要中整合廣告，預估新增 $50-100億營收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時間點: 2026 Q2-Q3 開始貢獻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PingFang TC"/>
              </a:defRPr>
            </a:pPr>
            <a:r>
              <a:t>突破點 2: Google Cloud 利潤改善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F37"/>
                </a:solidFill>
                <a:latin typeface="PingFang TC"/>
              </a:defRPr>
            </a:pPr>
            <a:r>
              <a:t> 2026 Cloud 目標: 營收 $500億+、營業利潤率 12-15%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AI 工作負載毛利率 50%+，拉高整體利潤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PingFang TC"/>
              </a:defRPr>
            </a:pPr>
            <a:r>
              <a:t>突破點 3: YouTube Shorts 全面營利化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F37"/>
                </a:solidFill>
                <a:latin typeface="PingFang TC"/>
              </a:defRPr>
            </a:pPr>
            <a:r>
              <a:t> Shorts 廣告佔 YouTube 總廣告 15-20%，新增 $30-50億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731520" y="47091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PingFang TC"/>
              </a:defRPr>
            </a:pPr>
            <a:r>
              <a:t>突破點 4: Waymo 獨立估值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19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F37"/>
                </a:solidFill>
                <a:latin typeface="PingFang TC"/>
              </a:defRPr>
            </a:pPr>
            <a:r>
              <a:t> 估值 $1,000億+，可能 2026 宣布 IPO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49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731520" y="566927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PingFang TC"/>
              </a:defRPr>
            </a:pPr>
            <a:r>
              <a:t>結論: 成長不足是暫時的。AI 是短期成本、長期武器。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PingFang TC"/>
              </a:defRPr>
            </a:pPr>
            <a:r>
              <a:t>2026 年是驗證 AI 投資回報的關鍵轉折年。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60A5FA"/>
                </a:solidFill>
                <a:latin typeface="PingFang TC"/>
              </a:defRPr>
            </a:pPr>
            <a:r>
              <a:t>GOOGL 競爭對手比較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515600" cy="98755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PingFang TC"/>
              </a:defRPr>
            </a:pPr>
            <a:r>
              <a:t>GOOGL vs Microsoft (AI/Cloud)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64207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Microsoft: Copilot 全線整合 Office 365，Azure AI 綁定企業客戶 | Google: Gemini 追趕，Cloud 價格戰搶市佔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PingFang TC"/>
              </a:defRPr>
            </a:pPr>
            <a:r>
              <a:t>✅ Microsoft 優勢: Office 生態系黏性 ❌ Google 劣勢: 企業市場起步晚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10515600" cy="98755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3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PingFang TC"/>
              </a:defRPr>
            </a:pPr>
            <a:r>
              <a:t>GOOGL vs Meta (廣告)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1576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Meta: Reels 短影片廣告成熟，AI 個性化推薦 | Google: YouTube Shorts 追趕，搜尋廣告穩固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PingFang TC"/>
              </a:defRPr>
            </a:pPr>
            <a:r>
              <a:t>✅ Google 優勢: 搜尋意圖型廣告 ROI 高 ⚖️ Meta: 社群廣告年輕化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79"/>
            <a:ext cx="10515600" cy="98755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2899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PingFang TC"/>
              </a:defRPr>
            </a:pPr>
            <a:r>
              <a:t>GOOGL vs OpenAI/ChatGPT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6732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OpenAI: GPT-4o 生態系、API 收費 | Google: Gemini 免費 + 企業版，綁定 Workspace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69079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PingFang TC"/>
              </a:defRPr>
            </a:pPr>
            <a:r>
              <a:t>⚖️ 技術平手，但 Google 分發管道更廣（Search、Android、Chrome）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80160"/>
            <a:ext cx="25400" cy="4114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12880" y="1280160"/>
            <a:ext cx="25400" cy="4114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GOOGL 投資結論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PingFang TC"/>
              </a:defRPr>
            </a:pPr>
            <a:r>
              <a:t>公司最大優勢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搜尋壟斷地位穩固（90%+ 市佔），護城河極深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2025 淨利 $1,322億，財務狀況極度健康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AI 技術領先（Gemini、TPU），不依賴 NVIDIA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σ-2.4 超跌，P/E 28x 相對合理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1E3A"/>
                </a:solidFill>
                <a:latin typeface="PingFang TC"/>
              </a:defRPr>
            </a:pPr>
            <a:r>
              <a:t>突破現況的最大難處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AI Overviews 可能瓦解搜尋廣告商業模式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57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CapEx $910億 ROI 需要 2-3 年驗證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3774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DOJ 反壟斷判決可能限制搜尋業務結構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6974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Cloud 利潤率遠低於 AWS (8% vs 30%)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9200"/>
            <a:ext cx="10515600" cy="9144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20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4AF37"/>
                </a:solidFill>
                <a:latin typeface="PingFang TC"/>
              </a:defRPr>
            </a:pPr>
            <a:r>
              <a:t>成長不足是暫時的 — AI 是短期成本、長期武器</a:t>
            </a:r>
            <a:br/>
            <a:r>
              <a:t>2026 Google I/O (5月) 是全年最大催化劑，σ-2.4 提供安全邊際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1371600"/>
            <a:ext cx="101600" cy="1016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1371600"/>
            <a:ext cx="101600" cy="1016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D4AF37"/>
                </a:solidFill>
                <a:latin typeface="PingFang TC"/>
              </a:defRPr>
            </a:pPr>
            <a:r>
              <a:t>PLTR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99999"/>
                </a:solidFill>
                <a:latin typeface="PingFang TC"/>
              </a:defRPr>
            </a:pPr>
            <a:r>
              <a:t>Palantir Technologies Inc.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51760"/>
            <a:ext cx="18288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0F0F0"/>
                </a:solidFill>
                <a:latin typeface="PingFang TC"/>
              </a:defRPr>
            </a:pPr>
            <a:r>
              <a:t>$135.38 · 市值$3,093億  ·  σ-1.7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2286000" cy="9144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F37"/>
                </a:solidFill>
                <a:latin typeface="PingFang TC"/>
              </a:defRPr>
            </a:pPr>
            <a:r>
              <a:t>$44.8B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06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PingFang TC"/>
              </a:defRPr>
            </a:pPr>
            <a:r>
              <a:t>2025 營收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39" y="3657600"/>
            <a:ext cx="2286000" cy="9144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8999" y="3703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ADE80"/>
                </a:solidFill>
                <a:latin typeface="PingFang TC"/>
              </a:defRPr>
            </a:pPr>
            <a:r>
              <a:t>+56.2%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8999" y="4206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PingFang TC"/>
              </a:defRPr>
            </a:pPr>
            <a:r>
              <a:t>YoY 成長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59" y="3657600"/>
            <a:ext cx="2286000" cy="9144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3703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0F0F0"/>
                </a:solidFill>
                <a:latin typeface="PingFang TC"/>
              </a:defRPr>
            </a:pPr>
            <a:r>
              <a:t>36.3%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4206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PingFang TC"/>
              </a:defRPr>
            </a:pPr>
            <a:r>
              <a:t>淨利率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3657600"/>
            <a:ext cx="2286000" cy="9144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3703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0A5FA"/>
                </a:solidFill>
                <a:latin typeface="PingFang TC"/>
              </a:defRPr>
            </a:pPr>
            <a:r>
              <a:t>82.4%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4206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PingFang TC"/>
              </a:defRPr>
            </a:pPr>
            <a:r>
              <a:t>毛利率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PLTR 公司概況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PingFang TC"/>
              </a:defRPr>
            </a:pPr>
            <a:r>
              <a:t>▸ AI 驅動的資料整合與決策平台公司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PingFang TC"/>
              </a:defRPr>
            </a:pPr>
            <a:r>
              <a:t>▸ CEO: Alex Karp · 員工: 4,001人 · 人均營收 $112萬（業界頂尖）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PingFang TC"/>
              </a:defRPr>
            </a:pPr>
            <a:r>
              <a:t>▸ 核心產品: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3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Gotham — 情報/國防決策平台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Foundry — 企業級資料作業系統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AIP (AI Platform) — 2024年推出，爆發增長中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5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PingFang TC"/>
              </a:defRPr>
            </a:pPr>
            <a:r>
              <a:t>▸ 2025年亮點: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營收 $44.75億 (+56.2%)，Q4 單季成長高達 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營業利潤率從 10.8% → 31.6%（+20.8個百分點）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淨利率從 16.1% → 36.3%，首次大規模獲利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0915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自由現金流 $21億 (+84%)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PLTR 營收結構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99999"/>
                </a:solidFill>
                <a:latin typeface="PingFang TC"/>
              </a:defRPr>
            </a:pPr>
            <a:r>
              <a:t>美國政府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280160"/>
            <a:ext cx="2926080" cy="365760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$16.2B (36%) +53%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99999"/>
                </a:solidFill>
                <a:latin typeface="PingFang TC"/>
              </a:defRPr>
            </a:pPr>
            <a:r>
              <a:t>美國商業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874519"/>
            <a:ext cx="2487168" cy="36576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13248" y="19202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$17.0B (38%) +74.7%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99999"/>
                </a:solidFill>
                <a:latin typeface="PingFang TC"/>
              </a:defRPr>
            </a:pPr>
            <a:r>
              <a:t>國際政府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468880"/>
            <a:ext cx="1024128" cy="36576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50208" y="2514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$7.8B (17.4%)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99999"/>
                </a:solidFill>
                <a:latin typeface="PingFang TC"/>
              </a:defRPr>
            </a:pPr>
            <a:r>
              <a:t>國際商業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3063240"/>
            <a:ext cx="585216" cy="36576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11296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$3.7B (8.3%)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PLTR 資本支出應用場景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4AF37"/>
                </a:solidFill>
                <a:latin typeface="PingFang TC"/>
              </a:defRPr>
            </a:pPr>
            <a:r>
              <a:t> Palantir 是輕資產模式，錢花在人才上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A5FA"/>
                </a:solidFill>
                <a:latin typeface="PingFang TC"/>
              </a:defRPr>
            </a:pPr>
            <a:r>
              <a:t> 2025年 CapEx 僅 $1.5-2億（佔營收 &lt;4%）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→ 不像 Google/AMD 燒錢蓋廠房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→ 主要支出: 雲端基礎設施、安全認證環境、辦公室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31520" y="31089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真正的錢花在哪？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A5FA"/>
                </a:solidFill>
                <a:latin typeface="PingFang TC"/>
              </a:defRPr>
            </a:pPr>
            <a:r>
              <a:t> 軟體開發: 頂尖工程師年薪 $30-50萬美元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A5FA"/>
                </a:solidFill>
                <a:latin typeface="PingFang TC"/>
              </a:defRPr>
            </a:pPr>
            <a:r>
              <a:t> 安全認證: FedRAMP High、IL6 認證費用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A5FA"/>
                </a:solidFill>
                <a:latin typeface="PingFang TC"/>
              </a:defRPr>
            </a:pPr>
            <a:r>
              <a:t> 客戶成功團隊: AIP Bootcamp 全球巡迴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731520" y="47091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營運計劃 2026: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19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4AF37"/>
                </a:solidFill>
                <a:latin typeface="PingFang TC"/>
              </a:defRPr>
            </a:pPr>
            <a:r>
              <a:t> AIP 全面擴張 — 目標商業客戶 700+ (2025: ~500家)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49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A5FA"/>
                </a:solidFill>
                <a:latin typeface="PingFang TC"/>
              </a:defRPr>
            </a:pPr>
            <a:r>
              <a:t> AIP Bootcamp 轉換率提升，客戶平均合約金額從數十萬→數百萬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6927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A5FA"/>
                </a:solidFill>
                <a:latin typeface="PingFang TC"/>
              </a:defRPr>
            </a:pPr>
            <a:r>
              <a:t> 國防合約鞏固: DoD、NATO、盟國長期戰略合作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731520" y="63093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4AF37"/>
                </a:solidFill>
                <a:latin typeface="PingFang TC"/>
              </a:defRPr>
            </a:pPr>
            <a:r>
              <a:t> 營運槓桿驚人: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62939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R&amp;D/營收: 17.7% → 12.5% | S&amp;M/營收: 31.0% → 23.6%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949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SBC/營收: 24.1% → 15.3%（股權稀釋壓力減緩）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PLTR 2026 重大動向與消息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PingFang TC"/>
              </a:defRPr>
            </a:pPr>
            <a:r>
              <a:t> Q4 2025 營收成長 70% YoY，加速趨勢明顯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PingFang TC"/>
              </a:defRPr>
            </a:pPr>
            <a:r>
              <a:t> AIP 客戶從「試點」→「企業級部署」，合約金額倍增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PingFang TC"/>
              </a:defRPr>
            </a:pPr>
            <a:r>
              <a:t> 美國國防 AI 預算持續增長，Gotham 成為核心基礎設施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PingFang TC"/>
              </a:defRPr>
            </a:pPr>
            <a:r>
              <a:t> 商業客戶增速超越政府客戶（+60% vs +53%）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1E3A"/>
                </a:solidFill>
                <a:latin typeface="PingFang TC"/>
              </a:defRPr>
            </a:pPr>
            <a:r>
              <a:t> 估值極高: P/E 214x、P/S 77x、EV/EBITDA 219x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1E3A"/>
                </a:solidFill>
                <a:latin typeface="PingFang TC"/>
              </a:defRPr>
            </a:pPr>
            <a:r>
              <a:t> Databricks、Microsoft Copilot 競爭加劇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1E3A"/>
                </a:solidFill>
                <a:latin typeface="PingFang TC"/>
              </a:defRPr>
            </a:pPr>
            <a:r>
              <a:t> 雙層股權結構: 創辦人持有 49.99% 投票權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PLTR 2026 催化劑時間表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515600" cy="43891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PingFang TC"/>
              </a:defRPr>
            </a:pPr>
            <a:r>
              <a:t>2月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325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Q4 2025 財報發布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325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PingFang TC"/>
              </a:defRPr>
            </a:pPr>
            <a:r>
              <a:t>已超預期 (+70%)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515600" cy="43891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PingFang TC"/>
              </a:defRPr>
            </a:pPr>
            <a:r>
              <a:t>5月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828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Q1 2026 財報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PingFang TC"/>
              </a:defRPr>
            </a:pPr>
            <a:r>
              <a:t>驗證成長持續性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86000"/>
            <a:ext cx="10515600" cy="43891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331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PingFang TC"/>
              </a:defRPr>
            </a:pPr>
            <a:r>
              <a:t>6月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331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AIPCon 2026 (預期)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331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ADE80"/>
                </a:solidFill>
                <a:latin typeface="PingFang TC"/>
              </a:defRPr>
            </a:pPr>
            <a:r>
              <a:t>新產品發布 · 最大催化劑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788920"/>
            <a:ext cx="10515600" cy="43891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8346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PingFang TC"/>
              </a:defRPr>
            </a:pPr>
            <a:r>
              <a:t>8月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8346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Q2 2026 財報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8346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PingFang TC"/>
              </a:defRPr>
            </a:pPr>
            <a:r>
              <a:t>商業客戶增速追蹤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91840"/>
            <a:ext cx="10515600" cy="43891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337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PingFang TC"/>
              </a:defRPr>
            </a:pPr>
            <a:r>
              <a:t>Q3-Q4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337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可能納入 S&amp;P 500 指數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337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PingFang TC"/>
              </a:defRPr>
            </a:pPr>
            <a:r>
              <a:t>被動資金大量流入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F37"/>
                </a:solidFill>
                <a:latin typeface="PingFang TC"/>
              </a:defRPr>
            </a:pPr>
            <a:r>
              <a:t>PLTR 成長率能否維持？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PingFang TC"/>
              </a:defRPr>
            </a:pPr>
            <a:r>
              <a:t>2025: +56.2% → 2026E: +45-50%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F37"/>
                </a:solidFill>
                <a:latin typeface="PingFang TC"/>
              </a:defRPr>
            </a:pPr>
            <a:r>
              <a:t> 支持高成長的因素: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AIP 動能: 商業客戶從 321→500+，合約金額倍增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政府合約: 國防 AI 預算持續增長，續約率接近 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規模效應: 營運利潤率 Q4 達 40.9%，固定成本攤提效應明顯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1E3A"/>
                </a:solidFill>
                <a:latin typeface="PingFang TC"/>
              </a:defRPr>
            </a:pPr>
            <a:r>
              <a:t>挑戰因素: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基期效應: 2025 營收 $44.75B，維持 56% 需新增 $25B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競爭: Databricks、Snowflake、Microsoft Azure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731520" y="47091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PingFang TC"/>
              </a:defRPr>
            </a:pPr>
            <a:r>
              <a:t>結論: 成長能維持。2026E +45-50%，仍遠超 SaaS 同業。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19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PingFang TC"/>
              </a:defRPr>
            </a:pPr>
            <a:r>
              <a:t>Q1-Q2 可能放緩至 40-45%，下半年 AIP 規模化後重返 50%+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F37"/>
                </a:solidFill>
                <a:latin typeface="PingFang TC"/>
              </a:defRPr>
            </a:pPr>
            <a:r>
              <a:t>PLTR 利潤率 + 2027後方向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PingFang TC"/>
              </a:defRPr>
            </a:pPr>
            <a:r>
              <a:t>利潤率還能提高嗎？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F37"/>
                </a:solidFill>
                <a:latin typeface="PingFang TC"/>
              </a:defRPr>
            </a:pPr>
            <a:r>
              <a:t> 毛利率 82.4% → 接近天花板（軟體極限 85%）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F37"/>
                </a:solidFill>
                <a:latin typeface="PingFang TC"/>
              </a:defRPr>
            </a:pPr>
            <a:r>
              <a:t> 營業利潤率 31.6% → 2026 目標 38-42%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軟體邊際成本近零，每新增 $1 營收幾乎全是利潤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SBC 持續下降（24.1%→15.3%），利潤率改善空間仍大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31520" y="31089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PingFang TC"/>
              </a:defRPr>
            </a:pPr>
            <a:r>
              <a:t>2027後的方向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F37"/>
                </a:solidFill>
                <a:latin typeface="PingFang TC"/>
              </a:defRPr>
            </a:pPr>
            <a:r>
              <a:t> 短期 (2026-2027): 鞏固 AI 作業系統領導地位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從「賣軟體」→「AI 作業系統平台」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商業部門超越政府（2027 佔比 &gt;55%）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731520" y="47091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F37"/>
                </a:solidFill>
                <a:latin typeface="PingFang TC"/>
              </a:defRPr>
            </a:pPr>
            <a:r>
              <a:t> 中長期 (2028+): 平台生態系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19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類似 Salesforce AppExchange 的第三方開發者平台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49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數據市場 (Data Marketplace): 企業間數據交換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6927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CEO Karp 願景: "數位神經系統，如 Windows 之於 PC"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60A5FA"/>
                </a:solidFill>
                <a:latin typeface="PingFang TC"/>
              </a:defRPr>
            </a:pPr>
            <a:r>
              <a:t>PLTR 競爭對手比較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515600" cy="98755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PingFang TC"/>
              </a:defRPr>
            </a:pPr>
            <a:r>
              <a:t>PLTR vs Databricks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64207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Databricks: Lakehouse 平台，開源 Spark 生態 | PLTR: AIP 端到端整合，國防級安全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PingFang TC"/>
              </a:defRPr>
            </a:pPr>
            <a:r>
              <a:t>✅ PLTR 優勢: 政府客戶壁壘、作戰決策能力 ❌ Databricks: 數據科學家友好度更高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10515600" cy="98755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3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PingFang TC"/>
              </a:defRPr>
            </a:pPr>
            <a:r>
              <a:t>PLTR vs Snowflake + Microsoft Azure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1576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Snowflake: 雲端數據倉儲易用 | Azure AI: Office 365 綁定 | PLTR: 垂直深度 + 安全認證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PingFang TC"/>
              </a:defRPr>
            </a:pPr>
            <a:r>
              <a:t>✅ PLTR 優勢: FedRAMP High + IL6 認證，競爭壁壘極高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79"/>
            <a:ext cx="10515600" cy="98755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2899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PingFang TC"/>
              </a:defRPr>
            </a:pPr>
            <a:r>
              <a:t>PLTR vs C3.ai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6732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C3.ai: 垂直產業 AI 應用豐富 | PLTR: 平台通用性 + 規模更大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69079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PingFang TC"/>
              </a:defRPr>
            </a:pPr>
            <a:r>
              <a:t>✅ PLTR 優勢: 規模、客戶數、財務表現全面領先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80160"/>
            <a:ext cx="25400" cy="4114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12880" y="1280160"/>
            <a:ext cx="25400" cy="4114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PLTR 投資結論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PingFang TC"/>
              </a:defRPr>
            </a:pPr>
            <a:r>
              <a:t>公司最大優勢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AIP 平台黏性極高，替換成本巨大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營運槓桿驚人: 利潤率持續上升中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國防 + 商業雙引擎，分散風險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FedRAMP High + IL6 認證，競爭壁壘極高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1E3A"/>
                </a:solidFill>
                <a:latin typeface="PingFang TC"/>
              </a:defRPr>
            </a:pPr>
            <a:r>
              <a:t>突破現況的最大難處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估值極高: P/E 214x，回調空間大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57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雙層股權結構: 散戶話語權低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3774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客戶集中度偏高 (前10大客戶 30-40%)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6974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DCF 估值約 $90-110，當前溢價 23-50%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9200"/>
            <a:ext cx="10515600" cy="9144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20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4AF37"/>
                </a:solidFill>
                <a:latin typeface="PingFang TC"/>
              </a:defRPr>
            </a:pPr>
            <a:r>
              <a:t>成長能維持 (45-50%)、利潤率能提高 (38-42%)</a:t>
            </a:r>
            <a:br/>
            <a:r>
              <a:t>最大風險是估值，但 AIP 平台是真正的護城河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1371600"/>
            <a:ext cx="101600" cy="1016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1371600"/>
            <a:ext cx="101600" cy="1016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D4AF37"/>
                </a:solidFill>
                <a:latin typeface="PingFang TC"/>
              </a:defRPr>
            </a:pPr>
            <a:r>
              <a:t>RKLB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99999"/>
                </a:solidFill>
                <a:latin typeface="PingFang TC"/>
              </a:defRPr>
            </a:pPr>
            <a:r>
              <a:t>Rocket Lab USA Inc.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51760"/>
            <a:ext cx="18288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0F0F0"/>
                </a:solidFill>
                <a:latin typeface="PingFang TC"/>
              </a:defRPr>
            </a:pPr>
            <a:r>
              <a:t>$74.42 · 市值$397.5億  ·  σ-0.6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2286000" cy="9144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F37"/>
                </a:solidFill>
                <a:latin typeface="PingFang TC"/>
              </a:defRPr>
            </a:pPr>
            <a:r>
              <a:t>$436M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06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PingFang TC"/>
              </a:defRPr>
            </a:pPr>
            <a:r>
              <a:t>2024 營收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39" y="3657600"/>
            <a:ext cx="2286000" cy="9144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8999" y="3703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ADE80"/>
                </a:solidFill>
                <a:latin typeface="PingFang TC"/>
              </a:defRPr>
            </a:pPr>
            <a:r>
              <a:t>+78%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8999" y="4206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PingFang TC"/>
              </a:defRPr>
            </a:pPr>
            <a:r>
              <a:t>YoY 成長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59" y="3657600"/>
            <a:ext cx="2286000" cy="9144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3703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  <a:latin typeface="PingFang TC"/>
              </a:defRPr>
            </a:pPr>
            <a:r>
              <a:t>-$190M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4206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PingFang TC"/>
              </a:defRPr>
            </a:pPr>
            <a:r>
              <a:t>2024 淨虧損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3657600"/>
            <a:ext cx="2286000" cy="9144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3703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0A5FA"/>
                </a:solidFill>
                <a:latin typeface="PingFang TC"/>
              </a:defRPr>
            </a:pPr>
            <a:r>
              <a:t>$808M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4206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PingFang TC"/>
              </a:defRPr>
            </a:pPr>
            <a:r>
              <a:t>現金儲備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RKLB 公司概況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PingFang TC"/>
              </a:defRPr>
            </a:pPr>
            <a:r>
              <a:t>▸ 端到端太空公司，全球第二活躍火箭發射商（僅次於 SpaceX）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PingFang TC"/>
              </a:defRPr>
            </a:pPr>
            <a:r>
              <a:t>▸ CEO: Peter Beck · 員工: ~2,100人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PingFang TC"/>
              </a:defRPr>
            </a:pPr>
            <a:r>
              <a:t>▸ 核心業務: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3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Electron — 小型軌道火箭，80+ 次發射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Space Systems — Photon 衛星、航天零件、星座管理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Neutron — 8噸中型可重複使用火箭（開發中）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5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PingFang TC"/>
              </a:defRPr>
            </a:pPr>
            <a:r>
              <a:t>▸ 2025年前三季: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營收 $422M (+38% YoY)，年化超過 $560M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毛利率從 29% → 37%，持續改善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Q3 虧損收窄至 $18M（Q1: $60M），盈利拐點接近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RKLB 營收結構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99999"/>
                </a:solidFill>
                <a:latin typeface="PingFang TC"/>
              </a:defRPr>
            </a:pPr>
            <a:r>
              <a:t>太空系統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280160"/>
            <a:ext cx="4754880" cy="36576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59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~65% (衛星+零件)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99999"/>
                </a:solidFill>
                <a:latin typeface="PingFang TC"/>
              </a:defRPr>
            </a:pPr>
            <a:r>
              <a:t>發射服務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874519"/>
            <a:ext cx="2560320" cy="365760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19202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~35% (Electron)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RKLB 資本支出應用場景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4AF37"/>
                </a:solidFill>
                <a:latin typeface="PingFang TC"/>
              </a:defRPr>
            </a:pPr>
            <a:r>
              <a:t> 造火箭就是燒錢（類似 SpaceX 早期）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A5FA"/>
                </a:solidFill>
                <a:latin typeface="PingFang TC"/>
              </a:defRPr>
            </a:pPr>
            <a:r>
              <a:t> 2024年 R&amp;D: $174M（佔營收 40%）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A5FA"/>
                </a:solidFill>
                <a:latin typeface="PingFang TC"/>
              </a:defRPr>
            </a:pPr>
            <a:r>
              <a:t> Neutron 火箭累計投入 $150-200M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2026 資本支出重點: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A5FA"/>
                </a:solidFill>
                <a:latin typeface="PingFang TC"/>
              </a:defRPr>
            </a:pPr>
            <a:r>
              <a:t> Neutron 火箭開發: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→ 引擎測試: Archimedes 甲烷引擎全推力測試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→ 發射台建設: 維吉尼亞州 LC-3 發射場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→ 結構測試: 碳纖維機體壓力測試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731520" y="47091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A5FA"/>
                </a:solidFill>
                <a:latin typeface="PingFang TC"/>
              </a:defRPr>
            </a:pPr>
            <a:r>
              <a:t> Electron 產線優化: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19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→ 提高發射頻率至 15-18 次/年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49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→ 回收再利用技術測試（降低成本）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6927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731520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A5FA"/>
                </a:solidFill>
                <a:latin typeface="PingFang TC"/>
              </a:defRPr>
            </a:pPr>
            <a:r>
              <a:t> 衛星生產線擴建: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093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→ Mandrake-2 後續訂單交付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62939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→ Photon 衛星平台標準化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949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731520" y="726947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4AF37"/>
                </a:solidFill>
                <a:latin typeface="PingFang TC"/>
              </a:defRPr>
            </a:pPr>
            <a:r>
              <a:t> 現金 $808M，足以支撐至 2027 年中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7589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1E3A"/>
                </a:solidFill>
                <a:latin typeface="PingFang TC"/>
              </a:defRPr>
            </a:pPr>
            <a:r>
              <a:t>若 Neutron 延遲或成本超支，可能需要再融資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RKLB 2026 重大動向與消息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PingFang TC"/>
              </a:defRPr>
            </a:pPr>
            <a:r>
              <a:t> Mandrake-2 太空機動任務成功，展示軍事應用能力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PingFang TC"/>
              </a:defRPr>
            </a:pPr>
            <a:r>
              <a:t> Electron 第 80 次發射達成，可靠性持續驗證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PingFang TC"/>
              </a:defRPr>
            </a:pPr>
            <a:r>
              <a:t> 毛利率改善至 37%（2022年為 9%），軌跡向好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PingFang TC"/>
              </a:defRPr>
            </a:pPr>
            <a:r>
              <a:t> SDA (太空發展局) 星座計劃 $200億+ 預算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1E3A"/>
                </a:solidFill>
                <a:latin typeface="PingFang TC"/>
              </a:defRPr>
            </a:pPr>
            <a:r>
              <a:t> 淨虧損持續（2024: -$190M），尚未盈利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1E3A"/>
                </a:solidFill>
                <a:latin typeface="PingFang TC"/>
              </a:defRPr>
            </a:pPr>
            <a:r>
              <a:t> Neutron 已多次推遲，首飛時間不確定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1E3A"/>
                </a:solidFill>
                <a:latin typeface="PingFang TC"/>
              </a:defRPr>
            </a:pPr>
            <a:r>
              <a:t> 估值 EV/Sales 44x，需要高成長來支撐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1E3A"/>
                </a:solidFill>
                <a:latin typeface="PingFang TC"/>
              </a:defRPr>
            </a:pPr>
            <a:r>
              <a:t> SpaceX 壟斷 70%+ 發射市場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RKLB 2026 催化劑時間表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515600" cy="43891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PingFang TC"/>
              </a:defRPr>
            </a:pPr>
            <a: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325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2025 Q4 財報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325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PingFang TC"/>
              </a:defRPr>
            </a:pPr>
            <a:r>
              <a:t>年化營收 $600M+ 驗證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515600" cy="43891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PingFang TC"/>
              </a:defRPr>
            </a:pPr>
            <a: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828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SDA 星座計劃競標結果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PingFang TC"/>
              </a:defRPr>
            </a:pPr>
            <a:r>
              <a:t>政府業務爆發點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86000"/>
            <a:ext cx="10515600" cy="43891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331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PingFang TC"/>
              </a:defRPr>
            </a:pPr>
            <a: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331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Neutron 引擎全量測試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331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41E3A"/>
                </a:solidFill>
                <a:latin typeface="PingFang TC"/>
              </a:defRPr>
            </a:pPr>
            <a:r>
              <a:t>技術風險消除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788920"/>
            <a:ext cx="10515600" cy="43891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8346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PingFang TC"/>
              </a:defRPr>
            </a:pPr>
            <a:r>
              <a:t>Q4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8346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Neutron 首飛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8346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ADE80"/>
                </a:solidFill>
                <a:latin typeface="PingFang TC"/>
              </a:defRPr>
            </a:pPr>
            <a:r>
              <a:t>年度最大催化劑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91840"/>
            <a:ext cx="10515600" cy="43891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337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PingFang TC"/>
              </a:defRPr>
            </a:pPr>
            <a:r>
              <a:t>全年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337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Electron 15-18 次發射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337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PingFang TC"/>
              </a:defRPr>
            </a:pPr>
            <a:r>
              <a:t>可靠性持續驗證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F37"/>
                </a:solidFill>
                <a:latin typeface="PingFang TC"/>
              </a:defRPr>
            </a:pPr>
            <a:r>
              <a:t>RKLB 未來方向與計劃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PingFang TC"/>
              </a:defRPr>
            </a:pPr>
            <a:r>
              <a:t>短期 (2026): Neutron 首飛是一切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F37"/>
                </a:solidFill>
                <a:latin typeface="PingFang TC"/>
              </a:defRPr>
            </a:pPr>
            <a:r>
              <a:t> Neutron 成功 → 解鎖 $200B+ 中型火箭市場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8噸載荷，可重複使用，直接與 Falcon 9 競爭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PingFang TC"/>
              </a:defRPr>
            </a:pPr>
            <a:r>
              <a:t>中期 (2027-2029): 雙引擎加速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F37"/>
                </a:solidFill>
                <a:latin typeface="PingFang TC"/>
              </a:defRPr>
            </a:pPr>
            <a:r>
              <a:t> 發射服務: Electron + Neutron 並行，年營收 $500M+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F37"/>
                </a:solidFill>
                <a:latin typeface="PingFang TC"/>
              </a:defRPr>
            </a:pPr>
            <a:r>
              <a:t> 太空系統: 衛星平台 + 零件，年營收 $800M+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PingFang TC"/>
              </a:defRPr>
            </a:pPr>
            <a:r>
              <a:t>長期 (2030+): 太空基礎設施巨頭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全球第二大太空公司（僅次於 SpaceX）的目標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731520" y="47091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PingFang TC"/>
              </a:defRPr>
            </a:pPr>
            <a:r>
              <a:t>成長率會不會重大改變？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19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PingFang TC"/>
              </a:defRPr>
            </a:pPr>
            <a:r>
              <a:t>2026E +60%，Neutron 成功後 2027+ 可能加速至 CAGR 40-45%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49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1E3A"/>
                </a:solidFill>
                <a:latin typeface="PingFang TC"/>
              </a:defRPr>
            </a:pPr>
            <a:r>
              <a:t>失敗風險: Neutron 若延遲至 2027，成長率可能降至 20-25%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F37"/>
                </a:solidFill>
                <a:latin typeface="PingFang TC"/>
              </a:defRPr>
            </a:pPr>
            <a:r>
              <a:t>RKLB 政策面分析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PingFang TC"/>
              </a:defRPr>
            </a:pPr>
            <a:r>
              <a:t>順風: 政府太空預算持續增長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F37"/>
                </a:solidFill>
                <a:latin typeface="PingFang TC"/>
              </a:defRPr>
            </a:pPr>
            <a:r>
              <a:t> Space Force 預算 $30-33B/年，持續增長中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F37"/>
                </a:solidFill>
                <a:latin typeface="PingFang TC"/>
              </a:defRPr>
            </a:pPr>
            <a:r>
              <a:t> SDA 星座計劃 $200億+（5年期），RKLB 是主要競標者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NASA 預算 $25-27B，穩定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盟國 (日本、澳洲、英國) 增加太空國防支出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31520" y="31089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PingFang TC"/>
              </a:defRPr>
            </a:pPr>
            <a:r>
              <a:t>政府業務佔比: 預估 40-50% 營收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政策貢獻: 預計 2026-2030 提升成長率 10-15%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F37"/>
                </a:solidFill>
                <a:latin typeface="PingFang TC"/>
              </a:defRPr>
            </a:pPr>
            <a:r>
              <a:t> 結論: 政策面整體強烈順風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太空國防是兩黨共識，不受政黨輪替影響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60A5FA"/>
                </a:solidFill>
                <a:latin typeface="PingFang TC"/>
              </a:defRPr>
            </a:pPr>
            <a:r>
              <a:t>RKLB 競爭對手比較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515600" cy="98755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PingFang TC"/>
              </a:defRPr>
            </a:pPr>
            <a:r>
              <a:t>RKLB vs SpaceX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64207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SpaceX: Falcon 9/Heavy 主導市場，Starship 開發 | RKLB: Neutron 填補中型火箭空缺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PingFang TC"/>
              </a:defRPr>
            </a:pPr>
            <a:r>
              <a:t>❌ SpaceX 絕對優勢: 成本、頻率、規模 ✅ RKLB 機會: 政府需要備選方案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10515600" cy="98755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3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PingFang TC"/>
              </a:defRPr>
            </a:pPr>
            <a:r>
              <a:t>RKLB vs Firefly + Relativity 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1576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Firefly: Alpha 火箭競爭小型市場 | Relativity: Terran R 比 Neutron 更大 | RKLB: 技術成熟度領先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PingFang TC"/>
              </a:defRPr>
            </a:pPr>
            <a:r>
              <a:t>✅ RKLB 優勢: 80+ 次發射記錄，競爭者仍在驗證階段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79"/>
            <a:ext cx="10515600" cy="98755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2899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PingFang TC"/>
              </a:defRPr>
            </a:pPr>
            <a:r>
              <a:t>RKLB vs 中國火箭公司（長征、星際榮耀）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6732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中國: 成本更低，但受 ITAR 限制無法進入美國市場 | RKLB: 美國本土製造優勢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69079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PingFang TC"/>
              </a:defRPr>
            </a:pPr>
            <a:r>
              <a:t>✅ RKLB 優勢: 國防合約、安全供應鏈，中國無法競爭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80160"/>
            <a:ext cx="25400" cy="4114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12880" y="1280160"/>
            <a:ext cx="25400" cy="4114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RKLB 投資結論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PingFang TC"/>
              </a:defRPr>
            </a:pPr>
            <a:r>
              <a:t>公司最大優勢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Neutron 解鎖 $200B+ 市場機會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太空國防預算持續增長（兩黨共識）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垂直整合優勢，成本控制佳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毛利率從 9% → 37%，盈利拐點接近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1E3A"/>
                </a:solidFill>
                <a:latin typeface="PingFang TC"/>
              </a:defRPr>
            </a:pPr>
            <a:r>
              <a:t>突破現況的最大難處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Neutron 延遲風險（已推遲數次）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57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估值偏高 EV/Sales 44x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3774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現金流為負，支撐至 2027 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6974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SpaceX 壟斷壓力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9200"/>
            <a:ext cx="10515600" cy="9144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20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4AF37"/>
                </a:solidFill>
                <a:latin typeface="PingFang TC"/>
              </a:defRPr>
            </a:pPr>
            <a:r>
              <a:t>Neutron 首飛是 2026 最大催化劑</a:t>
            </a:r>
            <a:br/>
            <a:r>
              <a:t>成功 → 太空版 Tesla 故事成型 | 失敗 → 估值大幅修正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1371600"/>
            <a:ext cx="101600" cy="1016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1371600"/>
            <a:ext cx="101600" cy="1016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D4AF37"/>
                </a:solidFill>
                <a:latin typeface="PingFang TC"/>
              </a:defRPr>
            </a:pPr>
            <a:r>
              <a:t>AMD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99999"/>
                </a:solidFill>
                <a:latin typeface="PingFang TC"/>
              </a:defRPr>
            </a:pPr>
            <a:r>
              <a:t>Advanced Micro Devices Inc.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51760"/>
            <a:ext cx="18288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0F0F0"/>
                </a:solidFill>
                <a:latin typeface="PingFang TC"/>
              </a:defRPr>
            </a:pPr>
            <a:r>
              <a:t>$200.12 · 市值$3,250億  ·  σ-2.2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2286000" cy="9144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F37"/>
                </a:solidFill>
                <a:latin typeface="PingFang TC"/>
              </a:defRPr>
            </a:pPr>
            <a:r>
              <a:t>$34.6B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06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PingFang TC"/>
              </a:defRPr>
            </a:pPr>
            <a:r>
              <a:t>2025 營收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39" y="3657600"/>
            <a:ext cx="2286000" cy="9144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8999" y="3703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ADE80"/>
                </a:solidFill>
                <a:latin typeface="PingFang TC"/>
              </a:defRPr>
            </a:pPr>
            <a:r>
              <a:t>+34.3%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8999" y="4206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PingFang TC"/>
              </a:defRPr>
            </a:pPr>
            <a:r>
              <a:t>YoY 成長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59" y="3657600"/>
            <a:ext cx="2286000" cy="9144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3703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  <a:latin typeface="PingFang TC"/>
              </a:defRPr>
            </a:pPr>
            <a:r>
              <a:t>12.5%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4206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PingFang TC"/>
              </a:defRPr>
            </a:pPr>
            <a:r>
              <a:t>淨利率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3657600"/>
            <a:ext cx="2286000" cy="9144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3703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0A5FA"/>
                </a:solidFill>
                <a:latin typeface="PingFang TC"/>
              </a:defRPr>
            </a:pPr>
            <a:r>
              <a:t>$6.7B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4206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PingFang TC"/>
              </a:defRPr>
            </a:pPr>
            <a:r>
              <a:t>自由現金流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AMD 公司概況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PingFang TC"/>
              </a:defRPr>
            </a:pPr>
            <a:r>
              <a:t>▸ 全球第二大 x86 處理器廠商，NVIDIA 最大 AI GPU 挑戰者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PingFang TC"/>
              </a:defRPr>
            </a:pPr>
            <a:r>
              <a:t>▸ CEO: Lisa Su · 員工: ~26,000人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PingFang TC"/>
              </a:defRPr>
            </a:pPr>
            <a:r>
              <a:t>▸ 核心產品線: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3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EPYC — 伺服器 CPU（市佔 25-30%）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MI300X/MI350/MI400 — AI GPU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Ryzen — 消費端 CPU + AI PC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5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PingFang TC"/>
              </a:defRPr>
            </a:pPr>
            <a:r>
              <a:t>▸ 2025年亮點: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營收 $346億 (+34.3%)，數據中心成為核心引擎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淨利 $43.35億 (+164%)，Q4 毛利率 54.3%（歷史新高）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自由現金流 $67億 (+180%)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0915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731520" y="502919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★ 核心矛盾: 淨利率 12.5% vs NVIDIA 55%，差距 4 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AMD 營收結構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99999"/>
                </a:solidFill>
                <a:latin typeface="PingFang TC"/>
              </a:defRPr>
            </a:pPr>
            <a:r>
              <a:t>數據中心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280160"/>
            <a:ext cx="3511296" cy="36576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37376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$166B (48%) +32%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99999"/>
                </a:solidFill>
                <a:latin typeface="PingFang TC"/>
              </a:defRPr>
            </a:pPr>
            <a:r>
              <a:t>客戶端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874519"/>
            <a:ext cx="2194560" cy="36576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19202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~$104B (~30%) +106%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99999"/>
                </a:solidFill>
                <a:latin typeface="PingFang TC"/>
              </a:defRPr>
            </a:pPr>
            <a:r>
              <a:t>遊戲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468880"/>
            <a:ext cx="877824" cy="365760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03904" y="2514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~$42B (~12%)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99999"/>
                </a:solidFill>
                <a:latin typeface="PingFang TC"/>
              </a:defRPr>
            </a:pPr>
            <a:r>
              <a:t>嵌入式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3063240"/>
            <a:ext cx="731520" cy="36576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$34.5B (10%) -2.9%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AMD 資本支出應用場景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4AF37"/>
                </a:solidFill>
                <a:latin typeface="PingFang TC"/>
              </a:defRPr>
            </a:pPr>
            <a:r>
              <a:t> AMD 是 Fabless 無廠，錢花在設計而非硬體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A5FA"/>
                </a:solidFill>
                <a:latin typeface="PingFang TC"/>
              </a:defRPr>
            </a:pPr>
            <a:r>
              <a:t> 2025年 R&amp;D: ~$55-60億（佔營收 16-17%）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A5FA"/>
                </a:solidFill>
                <a:latin typeface="PingFang TC"/>
              </a:defRPr>
            </a:pPr>
            <a:r>
              <a:t> 2025年 CapEx: ~$7-8億（測試設備、辦公設施）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錢花在哪裡？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A5FA"/>
                </a:solidFill>
                <a:latin typeface="PingFang TC"/>
              </a:defRPr>
            </a:pPr>
            <a:r>
              <a:t> AI晶片設計（對打 NVIDIA）: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→ MI350/MI400 AI GPU — 挑戰 GB200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→ EPYC Turin (Zen 5) — 192核伺服器 CPU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A5FA"/>
                </a:solidFill>
                <a:latin typeface="PingFang TC"/>
              </a:defRPr>
            </a:pPr>
            <a:r>
              <a:t> 軟體生態（ROCm 追趕 CUDA）: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091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→ ROCm 6.0+ 開源軟體堆疊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19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→ 企業客戶技術支援團隊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49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731520" y="566927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A5FA"/>
                </a:solidFill>
                <a:latin typeface="PingFang TC"/>
              </a:defRPr>
            </a:pPr>
            <a:r>
              <a:t> 台積電代工費: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→ N5/N4P 晶圓 $16,000-18,000/片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093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→ HBM3/HBM3E 記憶體採購（單顆 $200-300）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62939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731520" y="6949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4AF37"/>
                </a:solidFill>
                <a:latin typeface="PingFang TC"/>
              </a:defRPr>
            </a:pPr>
            <a:r>
              <a:t> 資本支出效率高（Fabless 模式），錢花在刀口上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726947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1E3A"/>
                </a:solidFill>
                <a:latin typeface="PingFang TC"/>
              </a:defRPr>
            </a:pPr>
            <a:r>
              <a:t>最大支出風險: 台積電先進製程價格上漲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AMD 2026 重大動向與消息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PingFang TC"/>
              </a:defRPr>
            </a:pPr>
            <a:r>
              <a:t> Q4 2025 毛利率 54.3% 創歷史新高，突破 50% 里程碑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PingFang TC"/>
              </a:defRPr>
            </a:pPr>
            <a:r>
              <a:t> MI300X AI GPU 獲微軟、Meta 等大客戶採用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PingFang TC"/>
              </a:defRPr>
            </a:pPr>
            <a:r>
              <a:t> EPYC 伺服器 CPU 市佔持續爬升至 25-30%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PingFang TC"/>
              </a:defRPr>
            </a:pPr>
            <a:r>
              <a:t> 自由現金流 $67億，財務體質大幅改善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1E3A"/>
                </a:solidFill>
                <a:latin typeface="PingFang TC"/>
              </a:defRPr>
            </a:pPr>
            <a:r>
              <a:t> NVIDIA 壟斷 AI GPU 80%+ 市場，AMD 僅 10-15%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1E3A"/>
                </a:solidFill>
                <a:latin typeface="PingFang TC"/>
              </a:defRPr>
            </a:pPr>
            <a:r>
              <a:t> ROCm 軟體生態仍遠落後 CUDA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1E3A"/>
                </a:solidFill>
                <a:latin typeface="PingFang TC"/>
              </a:defRPr>
            </a:pPr>
            <a:r>
              <a:t> HBM (高頻寬記憶體) 成本壓力: 佔 AI GPU 成本 40-50%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1E3A"/>
                </a:solidFill>
                <a:latin typeface="PingFang TC"/>
              </a:defRPr>
            </a:pPr>
            <a:r>
              <a:t> 遊戲部門萎縮中 (-2.9%)，低毛利拖累整體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AMD 2026 催化劑時間表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515600" cy="43891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PingFang TC"/>
              </a:defRPr>
            </a:pPr>
            <a:r>
              <a:t>Q1-Q2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325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MI350 AI GPU 量產出貨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325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PingFang TC"/>
              </a:defRPr>
            </a:pPr>
            <a:r>
              <a:t>AI GPU 營收加速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515600" cy="43891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PingFang TC"/>
              </a:defRPr>
            </a:pPr>
            <a: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828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EPYC Turin (Zen 5) 全面鋪貨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PingFang TC"/>
              </a:defRPr>
            </a:pPr>
            <a:r>
              <a:t>CPU 市佔突破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86000"/>
            <a:ext cx="10515600" cy="43891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331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PingFang TC"/>
              </a:defRPr>
            </a:pPr>
            <a:r>
              <a:t>Q3-Q4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331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MI400 AI GPU 發布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331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ADE80"/>
                </a:solidFill>
                <a:latin typeface="PingFang TC"/>
              </a:defRPr>
            </a:pPr>
            <a:r>
              <a:t>年度最大催化劑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788920"/>
            <a:ext cx="10515600" cy="43891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8346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PingFang TC"/>
              </a:defRPr>
            </a:pPr>
            <a:r>
              <a:t>全年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8346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AI PC 滲透率提升 (Ryzen AI)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8346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PingFang TC"/>
              </a:defRPr>
            </a:pPr>
            <a:r>
              <a:t>客戶端成長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91840"/>
            <a:ext cx="10515600" cy="43891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337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PingFang TC"/>
              </a:defRPr>
            </a:pPr>
            <a:r>
              <a:t>全年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337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ROCm 6.0+ 軟體更新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337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PingFang TC"/>
              </a:defRPr>
            </a:pPr>
            <a:r>
              <a:t>生態追趕 CUDA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F37"/>
                </a:solidFill>
                <a:latin typeface="PingFang TC"/>
              </a:defRPr>
            </a:pPr>
            <a:r>
              <a:t>AMD 低利潤率的根本原因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PingFang TC"/>
              </a:defRPr>
            </a:pPr>
            <a:r>
              <a:t>AMD 淨利率 12.5% vs NVIDIA 55% — 為什麼？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1E3A"/>
                </a:solidFill>
                <a:latin typeface="PingFang TC"/>
              </a:defRPr>
            </a:pPr>
            <a:r>
              <a:t>原因 1: 產品組合拖累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低毛利 Client CPU (40-45%) + Gaming (30-35%) 佔比過高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高毛利 AI GPU 佔總營收僅 15-20%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31520" y="31089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1E3A"/>
                </a:solidFill>
                <a:latin typeface="PingFang TC"/>
              </a:defRPr>
            </a:pPr>
            <a:r>
              <a:t>原因 2: HBM 成本壓力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MI300X 使用 8 顆 HBM3，單顆 $200-300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HBM 佔 AI GPU 成本 40-50%，壓縮毛利率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1E3A"/>
                </a:solidFill>
                <a:latin typeface="PingFang TC"/>
              </a:defRPr>
            </a:pPr>
            <a:r>
              <a:t>原因 3: 規模效應不足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091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訂單量遠小於 NVIDIA，台積電/HBM 議價能力弱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19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31520" y="5349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1E3A"/>
                </a:solidFill>
                <a:latin typeface="PingFang TC"/>
              </a:defRPr>
            </a:pPr>
            <a:r>
              <a:t>原因 4: 競爭定價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6927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EPYC 為搶 Intel 市佔，價格折讓 10-15%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MI300X 走性價比路線，售價低 NVIDIA 20-30%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F37"/>
                </a:solidFill>
                <a:latin typeface="PingFang TC"/>
              </a:defRPr>
            </a:pPr>
            <a:r>
              <a:t>AMD 利潤率突破路徑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PingFang TC"/>
              </a:defRPr>
            </a:pPr>
            <a:r>
              <a:t>三種情境預測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F37"/>
                </a:solidFill>
                <a:latin typeface="PingFang TC"/>
              </a:defRPr>
            </a:pPr>
            <a:r>
              <a:t> 樂觀 (2027 毛利率 60%+):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AI GPU 佔營收 40%+、毛利率 65-70%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EPYC 市佔 35%+，規模效應顯現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HBM 成本下降 15-20%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→ 淨利率 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PingFang TC"/>
              </a:defRPr>
            </a:pPr>
            <a:r>
              <a:t>中性 (2027 毛利率 55%):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AI GPU 佔營收 30%、毛利率 65%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EPYC 市佔 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091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→ 淨利率 18-20%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19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31520" y="5349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1E3A"/>
                </a:solidFill>
                <a:latin typeface="PingFang TC"/>
              </a:defRPr>
            </a:pPr>
            <a:r>
              <a:t>悲觀 (毛利率停滯 50-52%):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6927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NVIDIA 壟斷持續、Intel 反撲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HBM 供應短缺漲價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093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731520" y="662939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F37"/>
                </a:solidFill>
                <a:latin typeface="PingFang TC"/>
              </a:defRPr>
            </a:pPr>
            <a:r>
              <a:t> 關鍵拐點: 2026 Q4 MI400 發布 → 毛利率推至 54-55%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949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F37"/>
                </a:solidFill>
                <a:latin typeface="PingFang TC"/>
              </a:defRPr>
            </a:pPr>
            <a:r>
              <a:t> 2027 全年毛利率 57-60%，淨利率 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60A5FA"/>
                </a:solidFill>
                <a:latin typeface="PingFang TC"/>
              </a:defRPr>
            </a:pPr>
            <a:r>
              <a:t>AMD 競爭對手比較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515600" cy="98755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PingFang TC"/>
              </a:defRPr>
            </a:pPr>
            <a:r>
              <a:t>AMD vs NVIDIA (AI GPU)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64207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NVIDIA: GB200/Blackwell Ultra 生態系壁壘 | AMD: MI400 性價比路線，ROCm 追趕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PingFang TC"/>
              </a:defRPr>
            </a:pPr>
            <a:r>
              <a:t>❌ NVIDIA 壓倒性優勢: CUDA 生態、80%+ 市佔 ✅ AMD 機會: 雲端客戶需要第二供應商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10515600" cy="98755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3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PingFang TC"/>
              </a:defRPr>
            </a:pPr>
            <a:r>
              <a:t>AMD vs Intel (伺服器 CPU)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1576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Intel: Granite Rapids/Sierra Forest 反撲 | AMD: EPYC Turin (Zen 5) 192核優勢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PingFang TC"/>
              </a:defRPr>
            </a:pPr>
            <a:r>
              <a:t>✅ AMD 優勢: 市佔率持續擴張 25%→35%，Intel 製程落後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79"/>
            <a:ext cx="10515600" cy="98755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2899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PingFang TC"/>
              </a:defRPr>
            </a:pPr>
            <a:r>
              <a:t>AMD vs Qualcomm/Apple (AI PC)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6732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Qualcomm: ARM 架構 AI PC | Apple: M4 自研晶片 | AMD: Ryzen AI 300 x86 相容性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69079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PingFang TC"/>
              </a:defRPr>
            </a:pPr>
            <a:r>
              <a:t>⚖️ AMD 優勢: Windows 生態相容 ❌ 劣勢: 能效比不如 ARM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80160"/>
            <a:ext cx="25400" cy="4114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12880" y="1280160"/>
            <a:ext cx="25400" cy="4114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AMD 投資結論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PingFang TC"/>
              </a:defRPr>
            </a:pPr>
            <a:r>
              <a:t>公司最大優勢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AI GPU 唯一能挑戰 NVIDIA 的對手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EPYC 持續搶 Intel 市佔 (25%→35%)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Q4 毛利率 54.3% 已開始突破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σ-2.2 超跌，PEG 0.49（便宜）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1E3A"/>
                </a:solidFill>
                <a:latin typeface="PingFang TC"/>
              </a:defRPr>
            </a:pPr>
            <a:r>
              <a:t>突破現況的最大難處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NVIDIA 壟斷 AI GPU 80%+，CUDA 生態壁壘高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57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HBM 成本壓力短期難解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3774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ROCm 軟體生態仍需 2-3 年追趕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6974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遊戲部門萎縮，低毛利拖累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9200"/>
            <a:ext cx="10515600" cy="9144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20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4AF37"/>
                </a:solidFill>
                <a:latin typeface="PingFang TC"/>
              </a:defRPr>
            </a:pPr>
            <a:r>
              <a:t>利潤率拐點就在 2026 Q4 — MI400 發布是關鍵</a:t>
            </a:r>
            <a:br/>
            <a:r>
              <a:t>σ-2.2 + PEG 0.49 = 被低估的 NVIDIA 挑戰者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1371600"/>
            <a:ext cx="101600" cy="1016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1371600"/>
            <a:ext cx="101600" cy="1016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D4AF37"/>
                </a:solidFill>
                <a:latin typeface="PingFang TC"/>
              </a:defRPr>
            </a:pPr>
            <a:r>
              <a:t>ARES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99999"/>
                </a:solidFill>
                <a:latin typeface="PingFang TC"/>
              </a:defRPr>
            </a:pPr>
            <a:r>
              <a:t>Ares Management Corporation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51760"/>
            <a:ext cx="18288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0F0F0"/>
                </a:solidFill>
                <a:latin typeface="PingFang TC"/>
              </a:defRPr>
            </a:pPr>
            <a:r>
              <a:t>$133.97 · 市值$490億  ·  σ-1.6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2286000" cy="9144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F37"/>
                </a:solidFill>
                <a:latin typeface="PingFang TC"/>
              </a:defRPr>
            </a:pPr>
            <a:r>
              <a:t>~$70B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06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PingFang TC"/>
              </a:defRPr>
            </a:pPr>
            <a:r>
              <a:t>2025 營收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39" y="3657600"/>
            <a:ext cx="2286000" cy="9144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8999" y="3703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ADE80"/>
                </a:solidFill>
                <a:latin typeface="PingFang TC"/>
              </a:defRPr>
            </a:pPr>
            <a:r>
              <a:t>+66.6%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8999" y="4206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PingFang TC"/>
              </a:defRPr>
            </a:pPr>
            <a:r>
              <a:t>YoY 成長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59" y="3657600"/>
            <a:ext cx="2286000" cy="9144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3703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0A5FA"/>
                </a:solidFill>
                <a:latin typeface="PingFang TC"/>
              </a:defRPr>
            </a:pPr>
            <a:r>
              <a:t>~$5,000B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4206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PingFang TC"/>
              </a:defRPr>
            </a:pPr>
            <a:r>
              <a:t>AUM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3657600"/>
            <a:ext cx="2286000" cy="9144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3703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0F0F0"/>
                </a:solidFill>
                <a:latin typeface="PingFang TC"/>
              </a:defRPr>
            </a:pPr>
            <a:r>
              <a:t>2.77%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4206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PingFang TC"/>
              </a:defRPr>
            </a:pPr>
            <a:r>
              <a:t>殖利率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ARES 公司概況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PingFang TC"/>
              </a:defRPr>
            </a:pPr>
            <a:r>
              <a:t>▸ 全球頂尖另類資產管理公司，私募信貸領域全球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PingFang TC"/>
              </a:defRPr>
            </a:pPr>
            <a:r>
              <a:t>▸ CEO: Michael Arougheti · 員工: ~3,000人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PingFang TC"/>
              </a:defRPr>
            </a:pPr>
            <a:r>
              <a:t>▸ 業務板塊: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3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信貸/直接貸款 (~60%) — 核心引擎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私募股權 (~15%) — 中型企業收購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房地產 (~15%) — 商業地產債權與股權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5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PingFang TC"/>
              </a:defRPr>
            </a:pPr>
            <a:r>
              <a:t>▸ 2025年亮點: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營收暴增 +66.6%，受私募信貸爆發驅動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AUM 估計 $4,500-5,000億，持續擴張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輕資產模式: CapEx &lt; 3% 營收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0915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管理費佔收入 70-75%（穩定現金流）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ARES 營收結構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99999"/>
                </a:solidFill>
                <a:latin typeface="PingFang TC"/>
              </a:defRPr>
            </a:pPr>
            <a:r>
              <a:t>信貸/直接貸款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280160"/>
            <a:ext cx="4389120" cy="36576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~60% (核心引擎)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99999"/>
                </a:solidFill>
                <a:latin typeface="PingFang TC"/>
              </a:defRPr>
            </a:pPr>
            <a:r>
              <a:t>私募股權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874519"/>
            <a:ext cx="1097280" cy="36576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19202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~15%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99999"/>
                </a:solidFill>
                <a:latin typeface="PingFang TC"/>
              </a:defRPr>
            </a:pPr>
            <a:r>
              <a:t>房地產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468880"/>
            <a:ext cx="1097280" cy="365760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2514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~15%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99999"/>
                </a:solidFill>
                <a:latin typeface="PingFang TC"/>
              </a:defRPr>
            </a:pPr>
            <a:r>
              <a:t>基礎設施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3063240"/>
            <a:ext cx="731520" cy="36576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~10%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ARES 資本支出應用場景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4AF37"/>
                </a:solidFill>
                <a:latin typeface="PingFang TC"/>
              </a:defRPr>
            </a:pPr>
            <a:r>
              <a:t> Ares 幾乎不花錢在硬體（輕資產模式）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A5FA"/>
                </a:solidFill>
                <a:latin typeface="PingFang TC"/>
              </a:defRPr>
            </a:pPr>
            <a:r>
              <a:t> CapEx 佔營收 &lt; 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→ 主要支出: IT 系統、辦公設施、合規基礎設施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→ 不像製造業或科技公司需要蓋廠房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31520" y="31089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真正的錢花在哪？（替客戶投資）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4AF37"/>
                </a:solidFill>
                <a:latin typeface="PingFang TC"/>
              </a:defRPr>
            </a:pPr>
            <a:r>
              <a:t> 2025年新增部署: ~$500-700億（私募信貸為主）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A5FA"/>
                </a:solidFill>
                <a:latin typeface="PingFang TC"/>
              </a:defRPr>
            </a:pPr>
            <a:r>
              <a:t> 直接貸款（替代銀行放貸）: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→ 中端市場企業融資，利率 SOFR + 4-6%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091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→ 客戶: EBITDA $1,000萬-$2.5億的企業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19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31520" y="5349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A5FA"/>
                </a:solidFill>
                <a:latin typeface="PingFang TC"/>
              </a:defRPr>
            </a:pPr>
            <a:r>
              <a:t> 基礎設施投資: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6927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→ 數據中心、再生能源項目、5G基地台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731520" y="63093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A5FA"/>
                </a:solidFill>
                <a:latin typeface="PingFang TC"/>
              </a:defRPr>
            </a:pPr>
            <a:r>
              <a:t> 房地產機會型投資: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62939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→ 不良資產收購（商業地產市場承壓）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949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731520" y="726947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2026 營運計劃: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7589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A5FA"/>
                </a:solidFill>
                <a:latin typeface="PingFang TC"/>
              </a:defRPr>
            </a:pPr>
            <a:r>
              <a:t> 新基金募資: 大型直接貸款基金 + 基礎設施基金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7909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A5FA"/>
                </a:solidFill>
                <a:latin typeface="PingFang TC"/>
              </a:defRPr>
            </a:pPr>
            <a:r>
              <a:t> 零售化: Evergreen 基金吸引高淨值個人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ARES 2026 重大動向與消息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PingFang TC"/>
              </a:defRPr>
            </a:pPr>
            <a:r>
              <a:t> 私募信貸結構性增長: $1.5T → $3.5T by 2030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PingFang TC"/>
              </a:defRPr>
            </a:pPr>
            <a:r>
              <a:t> 銀行退出中端市場 = Ares 最大紅利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PingFang TC"/>
              </a:defRPr>
            </a:pPr>
            <a:r>
              <a:t> 管理費收入穩定增長，不受市場波動影響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PingFang TC"/>
              </a:defRPr>
            </a:pPr>
            <a:r>
              <a:t> 機構投資者持續增配另類資產 (5-10%→15-20%)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1E3A"/>
                </a:solidFill>
                <a:latin typeface="PingFang TC"/>
              </a:defRPr>
            </a:pPr>
            <a:r>
              <a:t> 2025 基期 +66.6% 太高，2026 成長必然放緩至 20-30%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1E3A"/>
                </a:solidFill>
                <a:latin typeface="PingFang TC"/>
              </a:defRPr>
            </a:pPr>
            <a:r>
              <a:t> 派息比率 184.7%（超過淨利），可持續性存疑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1E3A"/>
                </a:solidFill>
                <a:latin typeface="PingFang TC"/>
              </a:defRPr>
            </a:pPr>
            <a:r>
              <a:t> SEC 對私募基金費用透明度監管加強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1E3A"/>
                </a:solidFill>
                <a:latin typeface="PingFang TC"/>
              </a:defRPr>
            </a:pPr>
            <a:r>
              <a:t> ROE 下降至 6.1%（2023: 25.1%），需關注盈利能力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ARES 2026 催化劑時間表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515600" cy="43891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PingFang TC"/>
              </a:defRPr>
            </a:pPr>
            <a: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325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Q4 2025 財報 + 2026 指引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325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PingFang TC"/>
              </a:defRPr>
            </a:pPr>
            <a:r>
              <a:t>AUM 增長驗證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515600" cy="43891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PingFang TC"/>
              </a:defRPr>
            </a:pPr>
            <a:r>
              <a:t>2-3月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828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大型直接貸款基金完成募資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PingFang TC"/>
              </a:defRPr>
            </a:pPr>
            <a:r>
              <a:t>管理費收入提升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86000"/>
            <a:ext cx="10515600" cy="43891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331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PingFang TC"/>
              </a:defRPr>
            </a:pPr>
            <a:r>
              <a:t>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331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Q1 季報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331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PingFang TC"/>
              </a:defRPr>
            </a:pPr>
            <a:r>
              <a:t>私募信貸部署速度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788920"/>
            <a:ext cx="10515600" cy="43891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8346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PingFang TC"/>
              </a:defRPr>
            </a:pPr>
            <a:r>
              <a:t>5-6月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8346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潛在併購公告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8346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PingFang TC"/>
              </a:defRPr>
            </a:pPr>
            <a:r>
              <a:t>業務規模擴張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91840"/>
            <a:ext cx="10515600" cy="43891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337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PingFang TC"/>
              </a:defRPr>
            </a:pPr>
            <a:r>
              <a:t>Q3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337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聯準會利率政策轉折點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337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ADE80"/>
                </a:solidFill>
                <a:latin typeface="PingFang TC"/>
              </a:defRPr>
            </a:pPr>
            <a:r>
              <a:t>影響全局 · 最大催化劑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F37"/>
                </a:solidFill>
                <a:latin typeface="PingFang TC"/>
              </a:defRPr>
            </a:pPr>
            <a:r>
              <a:t>ARES 成長能否持續擴張？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PingFang TC"/>
              </a:defRPr>
            </a:pPr>
            <a:r>
              <a:t>結構性增長 vs 基期效應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F37"/>
                </a:solidFill>
                <a:latin typeface="PingFang TC"/>
              </a:defRPr>
            </a:pPr>
            <a:r>
              <a:t> 支持持續增長: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私募信貸市場 $1.5T → $3.5T by 2030（CAGR ~15%）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銀行退出中端市場，監管收緊 → 企業找 Ares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機構投資者增配另類資產趨勢不變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Evergreen 基金開拓零售渠道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1E3A"/>
                </a:solidFill>
                <a:latin typeface="PingFang TC"/>
              </a:defRPr>
            </a:pPr>
            <a:r>
              <a:t>增長放緩風險: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2025 +66.6% 基期太高（含一次性併購/會計調整）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2026 預估回落至 +15-25%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091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私募信貸市場競爭加劇，管理費率面臨下行壓力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19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31520" y="5349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PingFang TC"/>
              </a:defRPr>
            </a:pPr>
            <a:r>
              <a:t>結論: 長期 CAGR 20%+ 可期，但短期增速必然回落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6927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PingFang TC"/>
              </a:defRPr>
            </a:pPr>
            <a:r>
              <a:t>Ares 在私募信貸的領導地位是最大結構性優勢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F37"/>
                </a:solidFill>
                <a:latin typeface="PingFang TC"/>
              </a:defRPr>
            </a:pPr>
            <a:r>
              <a:t>ARES 貨幣政策情境分析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PingFang TC"/>
              </a:defRPr>
            </a:pPr>
            <a:r>
              <a:t>為何高利率反而有利？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直接貸款利率隨 SOFR 浮動 → 高利率 = 高利息收入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銀行收緊放貸 → 更多企業找 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PingFang TC"/>
              </a:defRPr>
            </a:pPr>
            <a:r>
              <a:t>三種情境: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31520" y="31089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PingFang TC"/>
              </a:defRPr>
            </a:pPr>
            <a:r>
              <a:t>情境一: 降息至 3.5-4%（軟著陸）— 最佳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營收 $80.5B (+15%) · EPS $3.25 (+30%)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PE/RE 估值重估 → 目標 $187-200 (+40-50%)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F37"/>
                </a:solidFill>
                <a:latin typeface="PingFang TC"/>
              </a:defRPr>
            </a:pPr>
            <a:r>
              <a:t> 情境二: 維持 5%+ 高利率 — 中性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091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營收 $73.5B (+5%) · EPS $2.13 (-15%)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19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直接貸款仍強 → 目標 $107-120 (-10-20%)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49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731520" y="566927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1E3A"/>
                </a:solidFill>
                <a:latin typeface="PingFang TC"/>
              </a:defRPr>
            </a:pPr>
            <a:r>
              <a:t>情境三: 硬著陸 + 降息 — 最差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營收 $66.5B (-5%) · EPS $1.38 (-45%)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093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違約率飆升 → 目標 $73-87 (-35-45%)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62939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731520" y="6949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F37"/>
                </a:solidFill>
                <a:latin typeface="PingFang TC"/>
              </a:defRPr>
            </a:pPr>
            <a:r>
              <a:t> 最佳情境: 軟著陸 + 緩降息 → $200+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60A5FA"/>
                </a:solidFill>
                <a:latin typeface="PingFang TC"/>
              </a:defRPr>
            </a:pPr>
            <a:r>
              <a:t>ARES 競爭對手比較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515600" cy="98755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PingFang TC"/>
              </a:defRPr>
            </a:pPr>
            <a:r>
              <a:t>ARES vs Blackstone (全方位競爭)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64207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Blackstone: 規模最大 ($1萬億+ AUM)，多元化 | Ares: 私募信貸專注，中端市場深耕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PingFang TC"/>
              </a:defRPr>
            </a:pPr>
            <a:r>
              <a:t>❌ Blackstone 規模優勢 ✅ Ares 私募信貸市佔率更高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10515600" cy="98755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3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PingFang TC"/>
              </a:defRPr>
            </a:pPr>
            <a:r>
              <a:t>ARES vs Apollo (信貸平台競爭)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1576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Apollo: 信貸 + 保險整合 (Athene) | Ares: 純資產管理模式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PingFang TC"/>
              </a:defRPr>
            </a:pPr>
            <a:r>
              <a:t>⚖️ Apollo 保險資金穩定 vs Ares 靈活度高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79"/>
            <a:ext cx="10515600" cy="98755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2899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PingFang TC"/>
              </a:defRPr>
            </a:pPr>
            <a:r>
              <a:t>ARES vs KKR (私募股權傳統強項)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6732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KKR: PE 傳統巨頭，信貸後發 | Ares: 信貸領先，PE 相對弱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69079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PingFang TC"/>
              </a:defRPr>
            </a:pPr>
            <a:r>
              <a:t>✅ Ares 信貸優勢明顯，但 PE 業務落後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80160"/>
            <a:ext cx="25400" cy="4114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12880" y="1280160"/>
            <a:ext cx="25400" cy="4114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ARES 投資結論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PingFang TC"/>
              </a:defRPr>
            </a:pPr>
            <a:r>
              <a:t>公司最大優勢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私募信貸全球 #1，結構性增長趨勢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輕資產模式，管理費收入穩定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軟著陸情境下上漲空間 40-50%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殖利率 2.77%，提供下檔保護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1E3A"/>
                </a:solidFill>
                <a:latin typeface="PingFang TC"/>
              </a:defRPr>
            </a:pPr>
            <a:r>
              <a:t>突破現況的最大難處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硬著陸風險: 違約率飆升 → -35-45%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57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2025 基期太高，2026 增速必然放緩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3774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ROE 下降至 6.1%，盈利效率存疑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6974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派息比率 184.7% &gt; 100%，不可持續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9200"/>
            <a:ext cx="10515600" cy="9144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20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4AF37"/>
                </a:solidFill>
                <a:latin typeface="PingFang TC"/>
              </a:defRPr>
            </a:pPr>
            <a:r>
              <a:t>最大的 beta 來自聯準會 — 降息確認是最強催化劑</a:t>
            </a:r>
            <a:br/>
            <a:r>
              <a:t>私募信貸結構性增長是長期α，但需承受利率政策的短期波動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F37"/>
                </a:solidFill>
                <a:latin typeface="PingFang TC"/>
              </a:defRPr>
            </a:pPr>
            <a:r>
              <a:t>五檔反市場精選 — 綜合比較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4AF37"/>
                </a:solidFill>
                <a:latin typeface="PingFang TC"/>
              </a:defRPr>
            </a:pPr>
            <a:r>
              <a:t>股票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1887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4AF37"/>
                </a:solidFill>
                <a:latin typeface="PingFang TC"/>
              </a:defRPr>
            </a:pPr>
            <a:r>
              <a:t>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1887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4AF37"/>
                </a:solidFill>
                <a:latin typeface="PingFang TC"/>
              </a:defRPr>
            </a:pPr>
            <a:r>
              <a:t>R40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188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4AF37"/>
                </a:solidFill>
                <a:latin typeface="PingFang TC"/>
              </a:defRPr>
            </a:pPr>
            <a:r>
              <a:t>2026E成長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188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4AF37"/>
                </a:solidFill>
                <a:latin typeface="PingFang TC"/>
              </a:defRPr>
            </a:pPr>
            <a:r>
              <a:t>核心看點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1188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4AF37"/>
                </a:solidFill>
                <a:latin typeface="PingFang TC"/>
              </a:defRPr>
            </a:pPr>
            <a:r>
              <a:t>最大風險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60" y="1188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4AF37"/>
                </a:solidFill>
                <a:latin typeface="PingFang TC"/>
              </a:defRPr>
            </a:pPr>
            <a:r>
              <a:t>催化時間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F37"/>
                </a:solidFill>
                <a:latin typeface="PingFang TC"/>
              </a:defRPr>
            </a:pPr>
            <a:r>
              <a:t>GOOGL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1554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41E3A"/>
                </a:solidFill>
                <a:latin typeface="PingFang TC"/>
              </a:defRPr>
            </a:pPr>
            <a:r>
              <a:t>-2.4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1554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PingFang TC"/>
              </a:defRPr>
            </a:pPr>
            <a:r>
              <a:t>+14%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AI Overviews 廣告化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CapEx ROI · 反壟斷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60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5月 I/O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148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F37"/>
                </a:solidFill>
                <a:latin typeface="PingFang TC"/>
              </a:defRPr>
            </a:pPr>
            <a:r>
              <a:t>PLTR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2148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41E3A"/>
                </a:solidFill>
                <a:latin typeface="PingFang TC"/>
              </a:defRPr>
            </a:pPr>
            <a:r>
              <a:t>-1.7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2148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92.5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PingFang TC"/>
              </a:defRPr>
            </a:pPr>
            <a:r>
              <a:t>+45-50%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148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AIP 平台黏性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2148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估值 P/E 214x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0" y="2148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持續加速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97480"/>
            <a:ext cx="1143000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7432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F37"/>
                </a:solidFill>
                <a:latin typeface="PingFang TC"/>
              </a:defRPr>
            </a:pPr>
            <a:r>
              <a:t>RKLB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27432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41E3A"/>
                </a:solidFill>
                <a:latin typeface="PingFang TC"/>
              </a:defRPr>
            </a:pPr>
            <a:r>
              <a:t>-0.6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27432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34.7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PingFang TC"/>
              </a:defRPr>
            </a:pPr>
            <a:r>
              <a:t>+60%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2743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Neutron 首飛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2743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虧損 · 延遲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52960" y="2743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Q4 首飛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337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F37"/>
                </a:solidFill>
                <a:latin typeface="PingFang TC"/>
              </a:defRPr>
            </a:pPr>
            <a:r>
              <a:t>AMD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3337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41E3A"/>
                </a:solidFill>
                <a:latin typeface="PingFang TC"/>
              </a:defRPr>
            </a:pPr>
            <a:r>
              <a:t>-2.2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9039" y="3337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46.9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3337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PingFang TC"/>
              </a:defRPr>
            </a:pPr>
            <a:r>
              <a:t>+30-36%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3337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PingFang TC"/>
              </a:defRPr>
            </a:pPr>
            <a:r>
              <a:t>MI400 + 利潤拐點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0" y="3337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NVIDIA 壟斷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252960" y="3337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Q3-Q4 MI400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886200"/>
            <a:ext cx="1143000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39319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F37"/>
                </a:solidFill>
                <a:latin typeface="PingFang TC"/>
              </a:defRPr>
            </a:pPr>
            <a:r>
              <a:t>ARES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20" y="39319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41E3A"/>
                </a:solidFill>
                <a:latin typeface="PingFang TC"/>
              </a:defRPr>
            </a:pPr>
            <a:r>
              <a:t>-1.6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9039" y="39319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74.7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9496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PingFang TC"/>
              </a:defRPr>
            </a:pPr>
            <a:r>
              <a:t>+15-25%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3931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私募信貸結構增長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6960" y="3931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硬著陸風險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252960" y="3931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降息確認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754880"/>
            <a:ext cx="5303520" cy="82296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48006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41E3A"/>
                </a:solidFill>
                <a:latin typeface="PingFang TC"/>
              </a:defRPr>
            </a:pPr>
            <a:r>
              <a:t>最深超跌（技術面機會）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5120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F37"/>
                </a:solidFill>
                <a:latin typeface="PingFang TC"/>
              </a:defRPr>
            </a:pPr>
            <a:r>
              <a:t>GOOGL (-2.4σ) &gt; AMD (-2.2σ) &gt; PLTR (-1.7σ)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7920" y="4754880"/>
            <a:ext cx="5303520" cy="82296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48006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PingFang TC"/>
              </a:defRPr>
            </a:pPr>
            <a:r>
              <a:t>最強基本面（R40）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5120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F37"/>
                </a:solidFill>
                <a:latin typeface="PingFang TC"/>
              </a:defRPr>
            </a:pPr>
            <a:r>
              <a:t>PLTR (92.5) &gt; ARES (74.7) &gt; GOOGL (47)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4AF37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926080"/>
            <a:ext cx="210312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PingFang TC"/>
              </a:defRPr>
            </a:pPr>
            <a:r>
              <a:t>深度研究系列 · 2026年2月19日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PingFang TC"/>
              </a:defRPr>
            </a:pPr>
            <a:r>
              <a:t>本報告僅供參考，不構成任何投資建議。</a:t>
            </a:r>
            <a:br/>
            <a:r>
              <a:t>投資有風險，入市需謹慎。過往表現不代表未來收益。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54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