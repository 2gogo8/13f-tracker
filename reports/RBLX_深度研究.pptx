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3200400" y="457200"/>
            <a:ext cx="5943600" cy="3200400"/>
          </a:xfrm>
          <a:prstGeom prst="ellipse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37160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D4AF37"/>
                </a:solidFill>
                <a:latin typeface="PingFang TC"/>
              </a:defRPr>
            </a:pPr>
            <a:r>
              <a:t>ROBLOX CORPORATION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2560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深度研究報告 — 元宇宙平台的盈利拐點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0" y="3291840"/>
            <a:ext cx="210312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4983480" y="3749039"/>
            <a:ext cx="2286000" cy="118872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029200" y="3794760"/>
            <a:ext cx="2194560" cy="109728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0" y="3840480"/>
            <a:ext cx="21945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D4AF37"/>
                </a:solidFill>
                <a:latin typeface="PingFang TC"/>
              </a:defRPr>
            </a:pPr>
            <a:r>
              <a:t>RBLX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4133087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99999"/>
                </a:solidFill>
                <a:latin typeface="PingFang TC"/>
              </a:defRPr>
            </a:pPr>
            <a:r>
              <a:t>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4526280"/>
            <a:ext cx="219456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0F0F0"/>
                </a:solidFill>
                <a:latin typeface="PingFang TC"/>
              </a:defRPr>
            </a:pPr>
            <a:r>
              <a:t>48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4754880"/>
            <a:ext cx="2194560" cy="137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型態評級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5212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666666"/>
                </a:solidFill>
                <a:latin typeface="PingFang TC"/>
              </a:defRPr>
            </a:pPr>
            <a:r>
              <a:t>2026年2月19日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56692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666666"/>
                </a:solidFill>
                <a:latin typeface="PingFang TC"/>
              </a:defRPr>
            </a:pPr>
            <a:r>
              <a:t>僅供參考，不構成投資建議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4572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430000" y="1371600"/>
            <a:ext cx="101600" cy="101600"/>
          </a:xfrm>
          <a:prstGeom prst="ellipse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D4AF37"/>
                </a:solidFill>
                <a:latin typeface="PingFang TC"/>
              </a:defRPr>
            </a:pPr>
            <a:r>
              <a:t>RBLX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999999"/>
                </a:solidFill>
                <a:latin typeface="PingFang TC"/>
              </a:defRPr>
            </a:pPr>
            <a:r>
              <a:t>Roblox Corporation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2651760"/>
            <a:ext cx="18288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29260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F0F0F0"/>
                </a:solidFill>
                <a:latin typeface="PingFang TC"/>
              </a:defRPr>
            </a:pPr>
            <a:r>
              <a:t>$63.05 · 市值 $447億美元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D4AF37"/>
                </a:solidFill>
                <a:latin typeface="PingFang TC"/>
              </a:defRPr>
            </a:pPr>
            <a:r>
              <a:t>$48.9B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2025 營收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9183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28999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4ADE80"/>
                </a:solidFill>
                <a:latin typeface="PingFang TC"/>
              </a:defRPr>
            </a:pPr>
            <a:r>
              <a:t>+35.8%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28999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YoY 成長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852159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8932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C41E3A"/>
                </a:solidFill>
                <a:latin typeface="PingFang TC"/>
              </a:defRPr>
            </a:pPr>
            <a:r>
              <a:t>-$10.7B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8932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淨虧損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412480" y="3657600"/>
            <a:ext cx="22860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49640" y="37033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60A5FA"/>
                </a:solidFill>
                <a:latin typeface="PingFang TC"/>
              </a:defRPr>
            </a:pPr>
            <a:r>
              <a:t>88.9M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49640" y="420624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999999"/>
                </a:solidFill>
                <a:latin typeface="PingFang TC"/>
              </a:defRPr>
            </a:pPr>
            <a:r>
              <a:t>DAU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公司概況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全球最大 UGC (用戶生成內容) 遊戲平台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5087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CEO: David Baszucki · 員工: 2,474人 · 2021年3月上市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31520" y="21488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核心產品: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688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Roblox Platform — 人類共同體驗平台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7889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Roblox Studio — 免費創作工具，1,500萬創作者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089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Roblox Client — 應用程式，4,000萬個遊戲體驗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74903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PingFang TC"/>
              </a:defRPr>
            </a:pPr>
            <a:r>
              <a:t>▸ 2025年亮點: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6908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營收 $48.9億 (+35.8%)，成長重新加速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8912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DAU 8,890萬 (+11.8%)，用戶黏性持續強化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0915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營業虧損率從 -45% (2023) 收窄至 -25.2%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029199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    自由現金流 $13.5億 (+111%)，朝向盈虧平衡穩步前進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商業模式 — Bookings vs Revenue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Roblox 的財務架構有別於傳統遊戲公司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Bookings（預訂）: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用戶購買虛擬貨幣「Robux」的現金流入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包含：直接購買 + Premium 訂閱費用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這是衡量平台健康度的核心指標（類似現金收入）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Revenue（營收）: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當 Robux 被消費時才認列收入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由於用戶囤積 Robux，收入認列存在時間差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遞延收入反映在資產負債表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2025年數據對比: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Bookings: ~$54-56億美元（估計）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Revenue: $48.9億美元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差異原因: 用戶囤積 + 平台成長期遞延收入累積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4ADE80"/>
                </a:solidFill>
                <a:latin typeface="PingFang TC"/>
              </a:defRPr>
            </a:pPr>
            <a:r>
              <a:t>投資者應關注: Bookings 成長率 &gt; Revenue 成長率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代表用戶消費意願強勁，未來收入能見度高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用戶數據與成長趨勢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PingFang TC"/>
              </a:defRPr>
            </a:pPr>
            <a:r>
              <a:t>平均 DAU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37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4ADE80"/>
                </a:solidFill>
                <a:latin typeface="PingFang TC"/>
              </a:defRPr>
            </a:pPr>
            <a:r>
              <a:t>88.9M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0" y="15544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ADE80"/>
                </a:solidFill>
                <a:latin typeface="PingFang TC"/>
              </a:defRPr>
            </a:pPr>
            <a:r>
              <a:t>+11.8%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377439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4231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PingFang TC"/>
              </a:defRPr>
            </a:pPr>
            <a:r>
              <a:t>總遊玩時數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834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60A5FA"/>
                </a:solidFill>
                <a:latin typeface="PingFang TC"/>
              </a:defRPr>
            </a:pPr>
            <a:r>
              <a:t>812億小時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65175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0A5FA"/>
                </a:solidFill>
                <a:latin typeface="PingFang TC"/>
              </a:defRPr>
            </a:pPr>
            <a:r>
              <a:t>+14.2%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347472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35204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PingFang TC"/>
              </a:defRPr>
            </a:pPr>
            <a:r>
              <a:t>ARPDAU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9319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ACC15"/>
                </a:solidFill>
                <a:latin typeface="PingFang TC"/>
              </a:defRPr>
            </a:pPr>
            <a:r>
              <a:t>$16.90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3749039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ACC15"/>
                </a:solidFill>
                <a:latin typeface="PingFang TC"/>
              </a:defRPr>
            </a:pPr>
            <a:r>
              <a:t>+7.0%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572000"/>
            <a:ext cx="10515600" cy="91440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999999"/>
                </a:solidFill>
                <a:latin typeface="PingFang TC"/>
              </a:defRPr>
            </a:pPr>
            <a:r>
              <a:t>13歲以上占比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0292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0F0F0"/>
                </a:solidFill>
                <a:latin typeface="PingFang TC"/>
              </a:defRPr>
            </a:pPr>
            <a:r>
              <a:t>57%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48463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0F0F0"/>
                </a:solidFill>
                <a:latin typeface="PingFang TC"/>
              </a:defRPr>
            </a:pPr>
            <a:r>
              <a:t>成熟化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營收結構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核心遊戲內消費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200400" y="1463040"/>
            <a:ext cx="6729984" cy="365760"/>
          </a:xfrm>
          <a:prstGeom prst="round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113263" y="15087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~$45B (92%)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103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Premium 訂閱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103120"/>
            <a:ext cx="512064" cy="365760"/>
          </a:xfrm>
          <a:prstGeom prst="round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895344" y="2148839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~$3.4B (7%)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43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300" b="0">
                <a:solidFill>
                  <a:srgbClr val="999999"/>
                </a:solidFill>
                <a:latin typeface="PingFang TC"/>
              </a:defRPr>
            </a:pPr>
            <a:r>
              <a:t>廣告收入 (新興)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200400" y="2743200"/>
            <a:ext cx="457200" cy="365760"/>
          </a:xfrm>
          <a:prstGeom prst="roundRect">
            <a:avLst/>
          </a:prstGeom>
          <a:solidFill>
            <a:srgbClr val="4ADE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56432" y="278892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~$50-80M (1%)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D4AF37"/>
                </a:solidFill>
                <a:latin typeface="PingFang TC"/>
              </a:defRPr>
            </a:pPr>
            <a:r>
              <a:t>★ 2026年展望: 廣告收入可能快速成長至 $200-300M（占比3-5%）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0233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F0F0F0"/>
                </a:solidFill>
                <a:latin typeface="PingFang TC"/>
              </a:defRPr>
            </a:pPr>
            <a:r>
              <a:t>▸ 電商與品牌合作可能達到 $100-150M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獲利路徑分析 — 三種情境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2801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FACC15"/>
                </a:solidFill>
                <a:latin typeface="PingFang TC"/>
              </a:defRPr>
            </a:pPr>
            <a:r>
              <a:t>保守路徑 (2028年盈虧平衡)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營收年均成長 25%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0574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R&amp;D/營收 32%→28%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2028年營業利潤率 +3%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2834640"/>
            <a:ext cx="10515600" cy="12801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88036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PingFang TC"/>
              </a:defRPr>
            </a:pPr>
            <a:r>
              <a:t>中性路徑 (2027年盈虧平衡) ★ 最可能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24612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營收年均成長 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52044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廣告收入 2027年達 $5億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7947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2027年營業利潤率 +2%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4297680"/>
            <a:ext cx="10515600" cy="12801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4340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樂觀路徑 (2026年盈虧平衡)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7091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營收年均成長 35%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98348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AI生成內容降低開發成本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25780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▸ 2026年營業利潤率 +0.8%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資本支出應用場景（白話解釋）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D4AF37"/>
                </a:solidFill>
                <a:latin typeface="PingFang TC"/>
              </a:defRPr>
            </a:pPr>
            <a:r>
              <a:t> 2025年 CapEx $4.41億美元（占營收9%）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731520" y="17373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錢花在哪裡？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116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731520" y="22860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PingFang TC"/>
              </a:defRPr>
            </a:pPr>
            <a:r>
              <a:t> 資料中心與雲端基礎設施 (60%, $2.6億):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603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  → 8,890萬用戶同時在線，租用AWS、Google Cloud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3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  → 就像開全球連鎖餐廳，需要在各地蓋廚房與物流中心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0896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2" name="TextBox 11"/>
          <p:cNvSpPr txBox="1"/>
          <p:nvPr/>
        </p:nvSpPr>
        <p:spPr>
          <a:xfrm>
            <a:off x="731520" y="33832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PingFang TC"/>
              </a:defRPr>
            </a:pPr>
            <a:r>
              <a:t> AI運算資源 (20%, $0.9億):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6576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  → 訓練AI助手、內容審核AI（每天審查數億條訊息）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  → 聘請24小時不休息的AI保全團隊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2062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731520" y="44805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PingFang TC"/>
              </a:defRPr>
            </a:pPr>
            <a:r>
              <a:t> 辦公室與設備 (15%, $0.7億):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  → 員工從2,100人增至2,474人，擴張辦公空間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0292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19" name="TextBox 18"/>
          <p:cNvSpPr txBox="1"/>
          <p:nvPr/>
        </p:nvSpPr>
        <p:spPr>
          <a:xfrm>
            <a:off x="731520" y="530352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60A5FA"/>
                </a:solidFill>
                <a:latin typeface="PingFang TC"/>
              </a:defRPr>
            </a:pPr>
            <a:r>
              <a:t> 其他技術設施 (5%, $0.2億):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7784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  → 網路安全設備、測試裝置（手機、VR頭盔）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85215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</a:p>
        </p:txBody>
      </p:sp>
      <p:sp>
        <p:nvSpPr>
          <p:cNvPr id="22" name="TextBox 21"/>
          <p:cNvSpPr txBox="1"/>
          <p:nvPr/>
        </p:nvSpPr>
        <p:spPr>
          <a:xfrm>
            <a:off x="731520" y="6126479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41E3A"/>
                </a:solidFill>
                <a:latin typeface="PingFang TC"/>
              </a:defRPr>
            </a:pPr>
            <a:r>
              <a:t>CapEx/營收比 9% 屬於成長型科技公司正常水準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6400800"/>
            <a:ext cx="10515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ADE80"/>
                </a:solidFill>
                <a:latin typeface="PingFang TC"/>
              </a:defRPr>
            </a:pPr>
            <a:r>
              <a:t>預期2027-2028年降至6-7%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2026年重大動向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32588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PingFang TC"/>
              </a:defRPr>
            </a:pPr>
            <a:r>
              <a:t>+ 廣告平台全面推出 (Q2)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向所有開發者開放廣告API，目標$2-3億收入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847088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89280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PingFang TC"/>
              </a:defRPr>
            </a:pPr>
            <a:r>
              <a:t>+ AI創作工具大升級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121408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Roblox Assistant自然語言生成3D物件，降低創作門檻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414015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459735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PingFang TC"/>
              </a:defRPr>
            </a:pPr>
            <a:r>
              <a:t>+ 電商化戰略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88335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虛擬商品實體化，與Nike、Gucci等品牌合作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2980944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26663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4ADE80"/>
                </a:solidFill>
                <a:latin typeface="PingFang TC"/>
              </a:defRPr>
            </a:pPr>
            <a:r>
              <a:t>+ 17+內容拓展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255263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開放成人內容，吸引18-25歲高消費用戶群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114800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4160520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  <a:latin typeface="PingFang TC"/>
              </a:defRPr>
            </a:pPr>
            <a:r>
              <a:t>- 歐盟DSA法規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389120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可能增加合規成本$50-100M/年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81727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727447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  <a:latin typeface="PingFang TC"/>
              </a:defRPr>
            </a:pPr>
            <a:r>
              <a:t>- 中國市場停滯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4956047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2022年下架，短期無重啟跡象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5248656"/>
            <a:ext cx="10515600" cy="50292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14400" y="5294376"/>
            <a:ext cx="9144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C41E3A"/>
                </a:solidFill>
                <a:latin typeface="PingFang TC"/>
              </a:defRPr>
            </a:pPr>
            <a:r>
              <a:t>- 兒童保護爭議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5522976"/>
            <a:ext cx="9601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F0F0F0"/>
                </a:solidFill>
                <a:latin typeface="PingFang TC"/>
              </a:defRPr>
            </a:pPr>
            <a:r>
              <a:t>平台安全與監管風險持續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2026年催化劑時間表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5486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2月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60320" y="1417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PingFang TC"/>
              </a:defRPr>
            </a:pPr>
            <a:r>
              <a:t>Q4 2025財報公布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4173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已超預期，營收+36%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011680"/>
            <a:ext cx="10515600" cy="5486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05740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5月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057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PingFang TC"/>
              </a:defRPr>
            </a:pPr>
            <a:r>
              <a:t>Q1 2026財報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0" y="2057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關鍵:DAU成長、廣告收入首次披露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651760"/>
            <a:ext cx="10515600" cy="5486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69747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6月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9747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PingFang TC"/>
              </a:defRPr>
            </a:pPr>
            <a:r>
              <a:t>廣告平台正式推出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0" y="269747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最大催化劑，對標Unity Ads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291839"/>
            <a:ext cx="10515600" cy="5486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4400" y="333755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8月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560320" y="333755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PingFang TC"/>
              </a:defRPr>
            </a:pPr>
            <a:r>
              <a:t>Q2 2026財報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0" y="333755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廣告收入規模、17+內容影響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3931920"/>
            <a:ext cx="10515600" cy="5486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14400" y="3977639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9月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560320" y="39776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PingFang TC"/>
              </a:defRPr>
            </a:pPr>
            <a:r>
              <a:t>Roblox Developers Conference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0" y="3977639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新工具發布、2027戰略指引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4572000"/>
            <a:ext cx="10515600" cy="5486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61772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D4AF37"/>
                </a:solidFill>
                <a:latin typeface="PingFang TC"/>
              </a:defRPr>
            </a:pPr>
            <a:r>
              <a:t>12月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56032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0F0F0"/>
                </a:solidFill>
                <a:latin typeface="PingFang TC"/>
              </a:defRPr>
            </a:pPr>
            <a:r>
              <a:t>年終購物季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0" y="461772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999999"/>
                </a:solidFill>
                <a:latin typeface="PingFang TC"/>
              </a:defRPr>
            </a:pPr>
            <a:r>
              <a:t>Q4佔全年Bookings 30-35%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60A5FA"/>
                </a:solidFill>
                <a:latin typeface="PingFang TC"/>
              </a:defRPr>
            </a:pPr>
            <a:r>
              <a:t>RBLX 競爭對手比較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371600"/>
            <a:ext cx="10515600" cy="12344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RBLX vs Fortnite (Epic Games)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7830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Fortnite: 高ARPDAU ($25)，單一遊戲依賴 | RBLX: 1,500萬創作者生態，ARPDAU偏低 ($16.90)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1945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RBLX優勢: 創作者生態150倍於Fortnite ❌ 劣勢: ARPDAU落後33%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743200"/>
            <a:ext cx="10515600" cy="12344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7889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RBLX vs Minecraft (Microsoft)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1546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Minecraft: 買斷制穩定收入，教育市場強 | RBLX: 免費+虛擬商品，社交功能強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5661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RBLX優勢: 社交平台屬性，用戶黏性更高（2.5小時/天）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114800"/>
            <a:ext cx="10515600" cy="123444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416052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RBLX vs Meta Horizon Worlds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4526280"/>
            <a:ext cx="9601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Meta: VR社交平台，硬體依賴 | RBLX: 跨平台，手機/PC/主機全覆蓋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937760"/>
            <a:ext cx="9601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4ADE80"/>
                </a:solidFill>
                <a:latin typeface="PingFang TC"/>
              </a:defRPr>
            </a:pPr>
            <a:r>
              <a:t>✅ RBLX優勢: 用戶基數89M vs Meta &lt;1M，跨平台優勢明顯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1612880" y="1280160"/>
            <a:ext cx="25400" cy="41148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投資結論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ADE80"/>
                </a:solidFill>
                <a:latin typeface="PingFang TC"/>
              </a:defRPr>
            </a:pPr>
            <a:r>
              <a:t>最大優勢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全球最大UGC平台，1,500萬創作者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用戶黏性極高，每日2.5小時遊玩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營收成長重新加速至36% (2025)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虧損持續收窄，2027年可能盈虧平衡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廣告+電商新收入源即將爆發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C41E3A"/>
                </a:solidFill>
                <a:latin typeface="PingFang TC"/>
              </a:defRPr>
            </a:pPr>
            <a:r>
              <a:t>最大難處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73736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仍未盈利，2025虧損$10.7億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2103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ARPDAU僅$16.90，落後Fortnite 33%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24688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DAU成長放緩至12%，天花板隱現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834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兒童保護爭議，監管風險高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17920" y="320040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PingFang TC"/>
              </a:defRPr>
            </a:pPr>
            <a:r>
              <a:t>▸ 估值P/S 9.1x偏高，回調風險大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303520"/>
            <a:ext cx="10515600" cy="822960"/>
          </a:xfrm>
          <a:prstGeom prst="roundRect">
            <a:avLst/>
          </a:prstGeom>
          <a:solidFill>
            <a:srgbClr val="1A1A1A"/>
          </a:solidFill>
          <a:ln w="6350">
            <a:solidFill>
              <a:srgbClr val="33333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34924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D4AF37"/>
                </a:solidFill>
                <a:latin typeface="PingFang TC"/>
              </a:defRPr>
            </a:pPr>
            <a:r>
              <a:t>2027年盈虧平衡是關鍵拐點 — 廣告業務若不成功，ARPDAU難有突破</a:t>
            </a:r>
            <a:br/>
            <a:r>
              <a:t>適合長期持有（3-5年），但需承受高波動風險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A0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C41E3A"/>
                </a:solidFill>
                <a:latin typeface="PingFang TC"/>
              </a:defRPr>
            </a:pPr>
            <a:r>
              <a:t>RBLX 關鍵監控指標（KPIs）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914400"/>
            <a:ext cx="1371600" cy="25400"/>
          </a:xfrm>
          <a:prstGeom prst="rect">
            <a:avLst/>
          </a:prstGeom>
          <a:solidFill>
            <a:srgbClr val="D4AF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D4AF37"/>
                </a:solidFill>
                <a:latin typeface="PingFang TC"/>
              </a:defRPr>
            </a:pPr>
            <a:r>
              <a:t>成長指標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64591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DAU YoY成長率 (目標: &gt;10%)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192023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Hours Engaged成長率 (目標: &gt;12%)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945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ARPDAU YoY成長率 (目標: &gt;8%)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74320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4ADE80"/>
                </a:solidFill>
                <a:latin typeface="PingFang TC"/>
              </a:defRPr>
            </a:pPr>
            <a:r>
              <a:t>獲利能力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10896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營業利潤率 (目標: 2026年-15%、2027年0%)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33832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自由現金流 (目標: 維持正值)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6576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R&amp;D費用/營收比 (目標: 降至28%以下)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2062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60A5FA"/>
                </a:solidFill>
                <a:latin typeface="PingFang TC"/>
              </a:defRPr>
            </a:pPr>
            <a:r>
              <a:t>新業務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97280" y="457200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廣告收入規模 (目標: 2026年$2-3億)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484632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17+內容佔比 (目標: 2026年達10%)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120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AI創作工具採用率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5669279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1">
                <a:solidFill>
                  <a:srgbClr val="C41E3A"/>
                </a:solidFill>
                <a:latin typeface="PingFang TC"/>
              </a:defRPr>
            </a:pPr>
            <a:r>
              <a:t>風險信號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97280" y="60350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DAU成長跌破8% → 減倉信號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630935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營業虧損率擴大 → 立即停損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6583679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0F0F0"/>
                </a:solidFill>
                <a:latin typeface="PingFang TC"/>
              </a:defRPr>
            </a:pPr>
            <a:r>
              <a:t>□ 重大監管訴訟 → 評估退出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64008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JG的反市場報告書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400800"/>
            <a:ext cx="457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6666"/>
                </a:solidFill>
                <a:latin typeface="PingFang TC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